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DM Sans Bold" charset="1" panose="00000000000000000000"/>
      <p:regular r:id="rId17"/>
    </p:embeddedFont>
    <p:embeddedFont>
      <p:font typeface="DM Sans" charset="1" panose="00000000000000000000"/>
      <p:regular r:id="rId18"/>
    </p:embeddedFont>
    <p:embeddedFont>
      <p:font typeface="Gill Sans Condensed" charset="1" panose="020B0606020104020203"/>
      <p:regular r:id="rId19"/>
    </p:embeddedFont>
    <p:embeddedFont>
      <p:font typeface="Handelson Three" charset="1" panose="00000100000000000000"/>
      <p:regular r:id="rId20"/>
    </p:embeddedFont>
    <p:embeddedFont>
      <p:font typeface="TT Chocolates" charset="1" panose="02000503020000020003"/>
      <p:regular r:id="rId21"/>
    </p:embeddedFont>
    <p:embeddedFont>
      <p:font typeface="TT Chocolates Bold" charset="1" panose="02000803020000020003"/>
      <p:regular r:id="rId22"/>
    </p:embeddedFont>
    <p:embeddedFont>
      <p:font typeface="Gill Sans Condensed Bold" charset="1" panose="020B06080201040202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1724140" y="650651"/>
            <a:ext cx="14839720" cy="8985697"/>
            <a:chOff x="0" y="0"/>
            <a:chExt cx="4349566" cy="2633735"/>
          </a:xfrm>
        </p:grpSpPr>
        <p:sp>
          <p:nvSpPr>
            <p:cNvPr name="Freeform 3" id="3"/>
            <p:cNvSpPr/>
            <p:nvPr/>
          </p:nvSpPr>
          <p:spPr>
            <a:xfrm flipH="false" flipV="false" rot="0">
              <a:off x="0" y="0"/>
              <a:ext cx="4349566" cy="2633735"/>
            </a:xfrm>
            <a:custGeom>
              <a:avLst/>
              <a:gdLst/>
              <a:ahLst/>
              <a:cxnLst/>
              <a:rect r="r" b="b" t="t" l="l"/>
              <a:pathLst>
                <a:path h="2633735" w="4349566">
                  <a:moveTo>
                    <a:pt x="0" y="0"/>
                  </a:moveTo>
                  <a:lnTo>
                    <a:pt x="4349566" y="0"/>
                  </a:lnTo>
                  <a:lnTo>
                    <a:pt x="4349566" y="2633735"/>
                  </a:lnTo>
                  <a:lnTo>
                    <a:pt x="0" y="2633735"/>
                  </a:lnTo>
                  <a:close/>
                </a:path>
              </a:pathLst>
            </a:custGeom>
            <a:solidFill>
              <a:srgbClr val="000000">
                <a:alpha val="0"/>
              </a:srgbClr>
            </a:solidFill>
            <a:ln w="66675" cap="sq">
              <a:solidFill>
                <a:srgbClr val="8FA4E1"/>
              </a:solidFill>
              <a:prstDash val="solid"/>
              <a:miter/>
            </a:ln>
          </p:spPr>
        </p:sp>
        <p:sp>
          <p:nvSpPr>
            <p:cNvPr name="TextBox 4" id="4"/>
            <p:cNvSpPr txBox="true"/>
            <p:nvPr/>
          </p:nvSpPr>
          <p:spPr>
            <a:xfrm>
              <a:off x="0" y="-38100"/>
              <a:ext cx="4349566" cy="2671835"/>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140037" y="3092063"/>
            <a:ext cx="16007927" cy="3964452"/>
          </a:xfrm>
          <a:prstGeom prst="rect">
            <a:avLst/>
          </a:prstGeom>
          <a:solidFill>
            <a:srgbClr val="CFDBFF"/>
          </a:solidFill>
        </p:spPr>
      </p:sp>
      <p:sp>
        <p:nvSpPr>
          <p:cNvPr name="AutoShape 6" id="6"/>
          <p:cNvSpPr/>
          <p:nvPr/>
        </p:nvSpPr>
        <p:spPr>
          <a:xfrm rot="0">
            <a:off x="2198370" y="1028700"/>
            <a:ext cx="2695440" cy="264496"/>
          </a:xfrm>
          <a:prstGeom prst="rect">
            <a:avLst/>
          </a:prstGeom>
          <a:solidFill>
            <a:srgbClr val="CFDBFF"/>
          </a:solidFill>
        </p:spPr>
      </p:sp>
      <p:sp>
        <p:nvSpPr>
          <p:cNvPr name="TextBox 7" id="7"/>
          <p:cNvSpPr txBox="true"/>
          <p:nvPr/>
        </p:nvSpPr>
        <p:spPr>
          <a:xfrm rot="0">
            <a:off x="2319692" y="1065192"/>
            <a:ext cx="2574118" cy="191512"/>
          </a:xfrm>
          <a:prstGeom prst="rect">
            <a:avLst/>
          </a:prstGeom>
        </p:spPr>
        <p:txBody>
          <a:bodyPr anchor="t" rtlCol="false" tIns="0" lIns="0" bIns="0" rIns="0">
            <a:spAutoFit/>
          </a:bodyPr>
          <a:lstStyle/>
          <a:p>
            <a:pPr algn="l">
              <a:lnSpc>
                <a:spcPts val="1568"/>
              </a:lnSpc>
            </a:pPr>
            <a:r>
              <a:rPr lang="en-US" b="true" sz="1306" spc="84">
                <a:solidFill>
                  <a:srgbClr val="000000"/>
                </a:solidFill>
                <a:latin typeface="DM Sans Bold"/>
                <a:ea typeface="DM Sans Bold"/>
                <a:cs typeface="DM Sans Bold"/>
                <a:sym typeface="DM Sans Bold"/>
              </a:rPr>
              <a:t>REALIZADO POR:</a:t>
            </a:r>
          </a:p>
        </p:txBody>
      </p:sp>
      <p:sp>
        <p:nvSpPr>
          <p:cNvPr name="TextBox 8" id="8"/>
          <p:cNvSpPr txBox="true"/>
          <p:nvPr/>
        </p:nvSpPr>
        <p:spPr>
          <a:xfrm rot="0">
            <a:off x="2319692" y="1317576"/>
            <a:ext cx="2574118" cy="249897"/>
          </a:xfrm>
          <a:prstGeom prst="rect">
            <a:avLst/>
          </a:prstGeom>
        </p:spPr>
        <p:txBody>
          <a:bodyPr anchor="t" rtlCol="false" tIns="0" lIns="0" bIns="0" rIns="0">
            <a:spAutoFit/>
          </a:bodyPr>
          <a:lstStyle/>
          <a:p>
            <a:pPr algn="l" marL="0" indent="0" lvl="0">
              <a:lnSpc>
                <a:spcPts val="2051"/>
              </a:lnSpc>
              <a:spcBef>
                <a:spcPct val="0"/>
              </a:spcBef>
            </a:pPr>
            <a:r>
              <a:rPr lang="en-US" sz="1465" spc="30">
                <a:solidFill>
                  <a:srgbClr val="000000"/>
                </a:solidFill>
                <a:latin typeface="DM Sans"/>
                <a:ea typeface="DM Sans"/>
                <a:cs typeface="DM Sans"/>
                <a:sym typeface="DM Sans"/>
              </a:rPr>
              <a:t>LUDOPATAS</a:t>
            </a:r>
          </a:p>
        </p:txBody>
      </p:sp>
      <p:sp>
        <p:nvSpPr>
          <p:cNvPr name="TextBox 9" id="9"/>
          <p:cNvSpPr txBox="true"/>
          <p:nvPr/>
        </p:nvSpPr>
        <p:spPr>
          <a:xfrm rot="0">
            <a:off x="2069355" y="2331099"/>
            <a:ext cx="14011908" cy="4650221"/>
          </a:xfrm>
          <a:prstGeom prst="rect">
            <a:avLst/>
          </a:prstGeom>
        </p:spPr>
        <p:txBody>
          <a:bodyPr anchor="t" rtlCol="false" tIns="0" lIns="0" bIns="0" rIns="0">
            <a:spAutoFit/>
          </a:bodyPr>
          <a:lstStyle/>
          <a:p>
            <a:pPr algn="ctr">
              <a:lnSpc>
                <a:spcPts val="33553"/>
              </a:lnSpc>
            </a:pPr>
            <a:r>
              <a:rPr lang="en-US" sz="25419">
                <a:solidFill>
                  <a:srgbClr val="000000"/>
                </a:solidFill>
                <a:latin typeface="Gill Sans Condensed"/>
                <a:ea typeface="Gill Sans Condensed"/>
                <a:cs typeface="Gill Sans Condensed"/>
                <a:sym typeface="Gill Sans Condensed"/>
              </a:rPr>
              <a:t>ENTREGA</a:t>
            </a:r>
          </a:p>
        </p:txBody>
      </p:sp>
      <p:sp>
        <p:nvSpPr>
          <p:cNvPr name="TextBox 10" id="10"/>
          <p:cNvSpPr txBox="true"/>
          <p:nvPr/>
        </p:nvSpPr>
        <p:spPr>
          <a:xfrm rot="0">
            <a:off x="4981337" y="5064152"/>
            <a:ext cx="8187944" cy="1917168"/>
          </a:xfrm>
          <a:prstGeom prst="rect">
            <a:avLst/>
          </a:prstGeom>
        </p:spPr>
        <p:txBody>
          <a:bodyPr anchor="t" rtlCol="false" tIns="0" lIns="0" bIns="0" rIns="0">
            <a:spAutoFit/>
          </a:bodyPr>
          <a:lstStyle/>
          <a:p>
            <a:pPr algn="ctr">
              <a:lnSpc>
                <a:spcPts val="15447"/>
              </a:lnSpc>
            </a:pPr>
            <a:r>
              <a:rPr lang="en-US" sz="11702" spc="128">
                <a:solidFill>
                  <a:srgbClr val="000000"/>
                </a:solidFill>
                <a:latin typeface="Handelson Three"/>
                <a:ea typeface="Handelson Three"/>
                <a:cs typeface="Handelson Three"/>
                <a:sym typeface="Handelson Three"/>
              </a:rPr>
              <a:t>05</a:t>
            </a:r>
          </a:p>
        </p:txBody>
      </p:sp>
      <p:sp>
        <p:nvSpPr>
          <p:cNvPr name="TextBox 11" id="11"/>
          <p:cNvSpPr txBox="true"/>
          <p:nvPr/>
        </p:nvSpPr>
        <p:spPr>
          <a:xfrm rot="0">
            <a:off x="4738618" y="7463906"/>
            <a:ext cx="8810764" cy="1445660"/>
          </a:xfrm>
          <a:prstGeom prst="rect">
            <a:avLst/>
          </a:prstGeom>
        </p:spPr>
        <p:txBody>
          <a:bodyPr anchor="t" rtlCol="false" tIns="0" lIns="0" bIns="0" rIns="0">
            <a:spAutoFit/>
          </a:bodyPr>
          <a:lstStyle/>
          <a:p>
            <a:pPr algn="ctr">
              <a:lnSpc>
                <a:spcPts val="2326"/>
              </a:lnSpc>
            </a:pPr>
            <a:r>
              <a:rPr lang="en-US" sz="1661" spc="34">
                <a:solidFill>
                  <a:srgbClr val="000000"/>
                </a:solidFill>
                <a:latin typeface="DM Sans"/>
                <a:ea typeface="DM Sans"/>
                <a:cs typeface="DM Sans"/>
                <a:sym typeface="DM Sans"/>
              </a:rPr>
              <a:t>ARCIA QUINTERO CRISTIAN</a:t>
            </a:r>
            <a:r>
              <a:rPr lang="en-US" sz="1661" spc="34">
                <a:solidFill>
                  <a:srgbClr val="000000"/>
                </a:solidFill>
                <a:latin typeface="DM Sans"/>
                <a:ea typeface="DM Sans"/>
                <a:cs typeface="DM Sans"/>
                <a:sym typeface="DM Sans"/>
              </a:rPr>
              <a:t> DAVID</a:t>
            </a:r>
          </a:p>
          <a:p>
            <a:pPr algn="ctr">
              <a:lnSpc>
                <a:spcPts val="2326"/>
              </a:lnSpc>
            </a:pPr>
            <a:r>
              <a:rPr lang="en-US" sz="1661" spc="34">
                <a:solidFill>
                  <a:srgbClr val="000000"/>
                </a:solidFill>
                <a:latin typeface="DM Sans"/>
                <a:ea typeface="DM Sans"/>
                <a:cs typeface="DM Sans"/>
                <a:sym typeface="DM Sans"/>
              </a:rPr>
              <a:t>SANCHEZ MORA JUAN JOSE</a:t>
            </a:r>
          </a:p>
          <a:p>
            <a:pPr algn="ctr">
              <a:lnSpc>
                <a:spcPts val="2326"/>
              </a:lnSpc>
            </a:pPr>
            <a:r>
              <a:rPr lang="en-US" sz="1661" spc="34">
                <a:solidFill>
                  <a:srgbClr val="000000"/>
                </a:solidFill>
                <a:latin typeface="DM Sans"/>
                <a:ea typeface="DM Sans"/>
                <a:cs typeface="DM Sans"/>
                <a:sym typeface="DM Sans"/>
              </a:rPr>
              <a:t>SAMACA GONZALEZ DANIEL MAURICIO</a:t>
            </a:r>
          </a:p>
          <a:p>
            <a:pPr algn="ctr">
              <a:lnSpc>
                <a:spcPts val="2326"/>
              </a:lnSpc>
            </a:pPr>
            <a:r>
              <a:rPr lang="en-US" sz="1661" spc="34">
                <a:solidFill>
                  <a:srgbClr val="000000"/>
                </a:solidFill>
                <a:latin typeface="DM Sans"/>
                <a:ea typeface="DM Sans"/>
                <a:cs typeface="DM Sans"/>
                <a:sym typeface="DM Sans"/>
              </a:rPr>
              <a:t>SOLANO GARCES JOSE ALEJANDRO</a:t>
            </a:r>
          </a:p>
          <a:p>
            <a:pPr algn="ctr" marL="0" indent="0" lvl="0">
              <a:lnSpc>
                <a:spcPts val="2326"/>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sp>
        <p:nvSpPr>
          <p:cNvPr name="AutoShape 2" id="2"/>
          <p:cNvSpPr/>
          <p:nvPr/>
        </p:nvSpPr>
        <p:spPr>
          <a:xfrm rot="0">
            <a:off x="-1379812" y="-1006101"/>
            <a:ext cx="2759625" cy="12299202"/>
          </a:xfrm>
          <a:prstGeom prst="rect">
            <a:avLst/>
          </a:prstGeom>
          <a:solidFill>
            <a:srgbClr val="CFDBFF"/>
          </a:solidFill>
        </p:spPr>
      </p:sp>
      <p:sp>
        <p:nvSpPr>
          <p:cNvPr name="TextBox 3" id="3"/>
          <p:cNvSpPr txBox="true"/>
          <p:nvPr/>
        </p:nvSpPr>
        <p:spPr>
          <a:xfrm rot="0">
            <a:off x="2570621" y="4276351"/>
            <a:ext cx="14318678" cy="4585731"/>
          </a:xfrm>
          <a:prstGeom prst="rect">
            <a:avLst/>
          </a:prstGeom>
        </p:spPr>
        <p:txBody>
          <a:bodyPr anchor="t" rtlCol="false" tIns="0" lIns="0" bIns="0" rIns="0">
            <a:spAutoFit/>
          </a:bodyPr>
          <a:lstStyle/>
          <a:p>
            <a:pPr algn="l" marL="0" indent="0" lvl="0">
              <a:lnSpc>
                <a:spcPts val="3321"/>
              </a:lnSpc>
            </a:pPr>
            <a:r>
              <a:rPr lang="en-US" sz="2372">
                <a:solidFill>
                  <a:srgbClr val="242424"/>
                </a:solidFill>
                <a:latin typeface="TT Chocolates"/>
                <a:ea typeface="TT Chocolates"/>
                <a:cs typeface="TT Chocolates"/>
                <a:sym typeface="TT Chocolates"/>
              </a:rPr>
              <a:t>My</a:t>
            </a:r>
            <a:r>
              <a:rPr lang="en-US" sz="2372">
                <a:solidFill>
                  <a:srgbClr val="242424"/>
                </a:solidFill>
                <a:latin typeface="TT Chocolates"/>
                <a:ea typeface="TT Chocolates"/>
                <a:cs typeface="TT Chocolates"/>
                <a:sym typeface="TT Chocolates"/>
              </a:rPr>
              <a:t> Building App es una herramienta diseñada para gestionar conjuntos de apartamentos, facilitando la comunicación e interacción entre los residentes y la administración. A continuación, se detallan sus características principales:</a:t>
            </a:r>
          </a:p>
          <a:p>
            <a:pPr algn="l" marL="0" indent="0" lvl="0">
              <a:lnSpc>
                <a:spcPts val="3321"/>
              </a:lnSpc>
            </a:pPr>
          </a:p>
          <a:p>
            <a:pPr algn="l" marL="512187" indent="-256094" lvl="1">
              <a:lnSpc>
                <a:spcPts val="3321"/>
              </a:lnSpc>
              <a:buFont typeface="Arial"/>
              <a:buChar char="•"/>
            </a:pPr>
            <a:r>
              <a:rPr lang="en-US" b="true" sz="2372">
                <a:solidFill>
                  <a:srgbClr val="242424"/>
                </a:solidFill>
                <a:latin typeface="TT Chocolates Bold"/>
                <a:ea typeface="TT Chocolates Bold"/>
                <a:cs typeface="TT Chocolates Bold"/>
                <a:sym typeface="TT Chocolates Bold"/>
              </a:rPr>
              <a:t>Sistema de Mensajería:</a:t>
            </a:r>
            <a:r>
              <a:rPr lang="en-US" sz="2372">
                <a:solidFill>
                  <a:srgbClr val="242424"/>
                </a:solidFill>
                <a:latin typeface="TT Chocolates"/>
                <a:ea typeface="TT Chocolates"/>
                <a:cs typeface="TT Chocolates"/>
                <a:sym typeface="TT Chocolates"/>
              </a:rPr>
              <a:t> Permite la comunicación directa entre usuarios.</a:t>
            </a:r>
          </a:p>
          <a:p>
            <a:pPr algn="l" marL="512187" indent="-256094" lvl="1">
              <a:lnSpc>
                <a:spcPts val="3321"/>
              </a:lnSpc>
              <a:buFont typeface="Arial"/>
              <a:buChar char="•"/>
            </a:pPr>
            <a:r>
              <a:rPr lang="en-US" b="true" sz="2372">
                <a:solidFill>
                  <a:srgbClr val="242424"/>
                </a:solidFill>
                <a:latin typeface="TT Chocolates Bold"/>
                <a:ea typeface="TT Chocolates Bold"/>
                <a:cs typeface="TT Chocolates Bold"/>
                <a:sym typeface="TT Chocolates Bold"/>
              </a:rPr>
              <a:t>Foro Comunitario:</a:t>
            </a:r>
            <a:r>
              <a:rPr lang="en-US" sz="2372">
                <a:solidFill>
                  <a:srgbClr val="242424"/>
                </a:solidFill>
                <a:latin typeface="TT Chocolates"/>
                <a:ea typeface="TT Chocolates"/>
                <a:cs typeface="TT Chocolates"/>
                <a:sym typeface="TT Chocolates"/>
              </a:rPr>
              <a:t> Fomenta la interacción con toda la comunidad.</a:t>
            </a:r>
          </a:p>
          <a:p>
            <a:pPr algn="l" marL="512187" indent="-256094" lvl="1">
              <a:lnSpc>
                <a:spcPts val="3321"/>
              </a:lnSpc>
              <a:buFont typeface="Arial"/>
              <a:buChar char="•"/>
            </a:pPr>
            <a:r>
              <a:rPr lang="en-US" b="true" sz="2372">
                <a:solidFill>
                  <a:srgbClr val="242424"/>
                </a:solidFill>
                <a:latin typeface="TT Chocolates Bold"/>
                <a:ea typeface="TT Chocolates Bold"/>
                <a:cs typeface="TT Chocolates Bold"/>
                <a:sym typeface="TT Chocolates Bold"/>
              </a:rPr>
              <a:t>Sistema de Reservas:</a:t>
            </a:r>
            <a:r>
              <a:rPr lang="en-US" sz="2372">
                <a:solidFill>
                  <a:srgbClr val="242424"/>
                </a:solidFill>
                <a:latin typeface="TT Chocolates"/>
                <a:ea typeface="TT Chocolates"/>
                <a:cs typeface="TT Chocolates"/>
                <a:sym typeface="TT Chocolates"/>
              </a:rPr>
              <a:t> Facilita el uso de las instalaciones del conjunto.</a:t>
            </a:r>
          </a:p>
          <a:p>
            <a:pPr algn="l" marL="512187" indent="-256094" lvl="1">
              <a:lnSpc>
                <a:spcPts val="3321"/>
              </a:lnSpc>
              <a:buFont typeface="Arial"/>
              <a:buChar char="•"/>
            </a:pPr>
            <a:r>
              <a:rPr lang="en-US" b="true" sz="2372">
                <a:solidFill>
                  <a:srgbClr val="242424"/>
                </a:solidFill>
                <a:latin typeface="TT Chocolates Bold"/>
                <a:ea typeface="TT Chocolates Bold"/>
                <a:cs typeface="TT Chocolates Bold"/>
                <a:sym typeface="TT Chocolates Bold"/>
              </a:rPr>
              <a:t>Asambleas: </a:t>
            </a:r>
            <a:r>
              <a:rPr lang="en-US" sz="2372">
                <a:solidFill>
                  <a:srgbClr val="242424"/>
                </a:solidFill>
                <a:latin typeface="TT Chocolates"/>
                <a:ea typeface="TT Chocolates"/>
                <a:cs typeface="TT Chocolates"/>
                <a:sym typeface="TT Chocolates"/>
              </a:rPr>
              <a:t>Promueve la participación de los propietarios en las decisiones del conjunto.</a:t>
            </a:r>
          </a:p>
          <a:p>
            <a:pPr algn="l">
              <a:lnSpc>
                <a:spcPts val="3321"/>
              </a:lnSpc>
            </a:pPr>
          </a:p>
          <a:p>
            <a:pPr algn="l" marL="0" indent="0" lvl="0">
              <a:lnSpc>
                <a:spcPts val="3321"/>
              </a:lnSpc>
            </a:pPr>
            <a:r>
              <a:rPr lang="en-US" sz="2372">
                <a:solidFill>
                  <a:srgbClr val="242424"/>
                </a:solidFill>
                <a:latin typeface="TT Chocolates"/>
                <a:ea typeface="TT Chocolates"/>
                <a:cs typeface="TT Chocolates"/>
                <a:sym typeface="TT Chocolates"/>
              </a:rPr>
              <a:t>Cada sistema cuenta con menús específicos para que los administradores del conjunto puedan controlar la información y las interacciones entre los usuarios de manera efectiva.</a:t>
            </a:r>
          </a:p>
        </p:txBody>
      </p:sp>
      <p:grpSp>
        <p:nvGrpSpPr>
          <p:cNvPr name="Group 4" id="4"/>
          <p:cNvGrpSpPr/>
          <p:nvPr/>
        </p:nvGrpSpPr>
        <p:grpSpPr>
          <a:xfrm rot="0">
            <a:off x="2563846" y="2037670"/>
            <a:ext cx="14318678" cy="1282750"/>
            <a:chOff x="0" y="0"/>
            <a:chExt cx="6778587" cy="607265"/>
          </a:xfrm>
        </p:grpSpPr>
        <p:sp>
          <p:nvSpPr>
            <p:cNvPr name="Freeform 5" id="5"/>
            <p:cNvSpPr/>
            <p:nvPr/>
          </p:nvSpPr>
          <p:spPr>
            <a:xfrm flipH="false" flipV="false" rot="0">
              <a:off x="0" y="0"/>
              <a:ext cx="6778587" cy="607265"/>
            </a:xfrm>
            <a:custGeom>
              <a:avLst/>
              <a:gdLst/>
              <a:ahLst/>
              <a:cxnLst/>
              <a:rect r="r" b="b" t="t" l="l"/>
              <a:pathLst>
                <a:path h="607265" w="6778587">
                  <a:moveTo>
                    <a:pt x="0" y="0"/>
                  </a:moveTo>
                  <a:lnTo>
                    <a:pt x="6778587" y="0"/>
                  </a:lnTo>
                  <a:lnTo>
                    <a:pt x="6778587" y="607265"/>
                  </a:lnTo>
                  <a:lnTo>
                    <a:pt x="0" y="607265"/>
                  </a:lnTo>
                  <a:close/>
                </a:path>
              </a:pathLst>
            </a:custGeom>
            <a:solidFill>
              <a:srgbClr val="000000">
                <a:alpha val="0"/>
              </a:srgbClr>
            </a:solidFill>
            <a:ln w="66675" cap="sq">
              <a:solidFill>
                <a:srgbClr val="8FA4E1"/>
              </a:solidFill>
              <a:prstDash val="solid"/>
              <a:miter/>
            </a:ln>
          </p:spPr>
        </p:sp>
        <p:sp>
          <p:nvSpPr>
            <p:cNvPr name="TextBox 6" id="6"/>
            <p:cNvSpPr txBox="true"/>
            <p:nvPr/>
          </p:nvSpPr>
          <p:spPr>
            <a:xfrm>
              <a:off x="0" y="-47625"/>
              <a:ext cx="6778587" cy="654890"/>
            </a:xfrm>
            <a:prstGeom prst="rect">
              <a:avLst/>
            </a:prstGeom>
          </p:spPr>
          <p:txBody>
            <a:bodyPr anchor="ctr" rtlCol="false" tIns="48876" lIns="48876" bIns="48876" rIns="48876"/>
            <a:lstStyle/>
            <a:p>
              <a:pPr algn="ctr">
                <a:lnSpc>
                  <a:spcPts val="1588"/>
                </a:lnSpc>
              </a:pPr>
            </a:p>
          </p:txBody>
        </p:sp>
      </p:grpSp>
      <p:sp>
        <p:nvSpPr>
          <p:cNvPr name="AutoShape 7" id="7"/>
          <p:cNvSpPr/>
          <p:nvPr/>
        </p:nvSpPr>
        <p:spPr>
          <a:xfrm rot="0">
            <a:off x="3193456" y="1774544"/>
            <a:ext cx="13073008" cy="1809001"/>
          </a:xfrm>
          <a:prstGeom prst="rect">
            <a:avLst/>
          </a:prstGeom>
          <a:solidFill>
            <a:srgbClr val="CFDBFF"/>
          </a:solidFill>
        </p:spPr>
      </p:sp>
      <p:sp>
        <p:nvSpPr>
          <p:cNvPr name="TextBox 8" id="8"/>
          <p:cNvSpPr txBox="true"/>
          <p:nvPr/>
        </p:nvSpPr>
        <p:spPr>
          <a:xfrm rot="0">
            <a:off x="3036280" y="1605774"/>
            <a:ext cx="13073008" cy="2206371"/>
          </a:xfrm>
          <a:prstGeom prst="rect">
            <a:avLst/>
          </a:prstGeom>
        </p:spPr>
        <p:txBody>
          <a:bodyPr anchor="t" rtlCol="false" tIns="0" lIns="0" bIns="0" rIns="0">
            <a:spAutoFit/>
          </a:bodyPr>
          <a:lstStyle/>
          <a:p>
            <a:pPr algn="ctr">
              <a:lnSpc>
                <a:spcPts val="15971"/>
              </a:lnSpc>
            </a:pPr>
            <a:r>
              <a:rPr lang="en-US" sz="12099">
                <a:solidFill>
                  <a:srgbClr val="1C1B19"/>
                </a:solidFill>
                <a:latin typeface="Gill Sans Condensed"/>
                <a:ea typeface="Gill Sans Condensed"/>
                <a:cs typeface="Gill Sans Condensed"/>
                <a:sym typeface="Gill Sans Condensed"/>
              </a:rPr>
              <a:t>MY BUILDING APP</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1977370" y="1028700"/>
            <a:ext cx="6341494" cy="2759559"/>
            <a:chOff x="0" y="0"/>
            <a:chExt cx="2120236" cy="922640"/>
          </a:xfrm>
        </p:grpSpPr>
        <p:sp>
          <p:nvSpPr>
            <p:cNvPr name="Freeform 3" id="3"/>
            <p:cNvSpPr/>
            <p:nvPr/>
          </p:nvSpPr>
          <p:spPr>
            <a:xfrm flipH="false" flipV="false" rot="0">
              <a:off x="0" y="0"/>
              <a:ext cx="2120236" cy="922640"/>
            </a:xfrm>
            <a:custGeom>
              <a:avLst/>
              <a:gdLst/>
              <a:ahLst/>
              <a:cxnLst/>
              <a:rect r="r" b="b" t="t" l="l"/>
              <a:pathLst>
                <a:path h="922640" w="2120236">
                  <a:moveTo>
                    <a:pt x="0" y="0"/>
                  </a:moveTo>
                  <a:lnTo>
                    <a:pt x="2120236" y="0"/>
                  </a:lnTo>
                  <a:lnTo>
                    <a:pt x="2120236" y="922640"/>
                  </a:lnTo>
                  <a:lnTo>
                    <a:pt x="0" y="922640"/>
                  </a:lnTo>
                  <a:close/>
                </a:path>
              </a:pathLst>
            </a:custGeom>
            <a:solidFill>
              <a:srgbClr val="000000">
                <a:alpha val="0"/>
              </a:srgbClr>
            </a:solidFill>
            <a:ln w="66675" cap="sq">
              <a:solidFill>
                <a:srgbClr val="8FA4E1"/>
              </a:solidFill>
              <a:prstDash val="solid"/>
              <a:miter/>
            </a:ln>
          </p:spPr>
        </p:sp>
        <p:sp>
          <p:nvSpPr>
            <p:cNvPr name="TextBox 4" id="4"/>
            <p:cNvSpPr txBox="true"/>
            <p:nvPr/>
          </p:nvSpPr>
          <p:spPr>
            <a:xfrm>
              <a:off x="0" y="-47625"/>
              <a:ext cx="2120236" cy="970265"/>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215563" y="1280117"/>
            <a:ext cx="7877865" cy="2219048"/>
          </a:xfrm>
          <a:prstGeom prst="rect">
            <a:avLst/>
          </a:prstGeom>
          <a:solidFill>
            <a:srgbClr val="CFDBFF"/>
          </a:solidFill>
        </p:spPr>
      </p:sp>
      <p:grpSp>
        <p:nvGrpSpPr>
          <p:cNvPr name="Group 6" id="6"/>
          <p:cNvGrpSpPr/>
          <p:nvPr/>
        </p:nvGrpSpPr>
        <p:grpSpPr>
          <a:xfrm rot="0">
            <a:off x="10329553" y="1582003"/>
            <a:ext cx="6779036" cy="7090170"/>
            <a:chOff x="0" y="0"/>
            <a:chExt cx="1219031" cy="1274980"/>
          </a:xfrm>
        </p:grpSpPr>
        <p:sp>
          <p:nvSpPr>
            <p:cNvPr name="Freeform 7" id="7"/>
            <p:cNvSpPr/>
            <p:nvPr/>
          </p:nvSpPr>
          <p:spPr>
            <a:xfrm flipH="false" flipV="false" rot="0">
              <a:off x="0" y="0"/>
              <a:ext cx="1219031" cy="1274980"/>
            </a:xfrm>
            <a:custGeom>
              <a:avLst/>
              <a:gdLst/>
              <a:ahLst/>
              <a:cxnLst/>
              <a:rect r="r" b="b" t="t" l="l"/>
              <a:pathLst>
                <a:path h="1274980" w="1219031">
                  <a:moveTo>
                    <a:pt x="0" y="0"/>
                  </a:moveTo>
                  <a:lnTo>
                    <a:pt x="1219031" y="0"/>
                  </a:lnTo>
                  <a:lnTo>
                    <a:pt x="1219031" y="1274980"/>
                  </a:lnTo>
                  <a:lnTo>
                    <a:pt x="0" y="1274980"/>
                  </a:lnTo>
                  <a:close/>
                </a:path>
              </a:pathLst>
            </a:custGeom>
            <a:blipFill>
              <a:blip r:embed="rId2"/>
              <a:stretch>
                <a:fillRect l="-28585" t="0" r="-28585" b="0"/>
              </a:stretch>
            </a:blipFill>
            <a:ln w="47625" cap="sq">
              <a:solidFill>
                <a:srgbClr val="8FA4E1"/>
              </a:solidFill>
              <a:prstDash val="solid"/>
              <a:miter/>
            </a:ln>
          </p:spPr>
        </p:sp>
      </p:grpSp>
      <p:sp>
        <p:nvSpPr>
          <p:cNvPr name="AutoShape 8" id="8"/>
          <p:cNvSpPr/>
          <p:nvPr/>
        </p:nvSpPr>
        <p:spPr>
          <a:xfrm rot="0">
            <a:off x="10329553" y="7787289"/>
            <a:ext cx="6779036" cy="917709"/>
          </a:xfrm>
          <a:prstGeom prst="rect">
            <a:avLst/>
          </a:prstGeom>
          <a:solidFill>
            <a:srgbClr val="CFDBFF"/>
          </a:solidFill>
        </p:spPr>
      </p:sp>
      <p:sp>
        <p:nvSpPr>
          <p:cNvPr name="TextBox 9" id="9"/>
          <p:cNvSpPr txBox="true"/>
          <p:nvPr/>
        </p:nvSpPr>
        <p:spPr>
          <a:xfrm rot="0">
            <a:off x="1259756" y="1216440"/>
            <a:ext cx="7776723" cy="2013026"/>
          </a:xfrm>
          <a:prstGeom prst="rect">
            <a:avLst/>
          </a:prstGeom>
        </p:spPr>
        <p:txBody>
          <a:bodyPr anchor="t" rtlCol="false" tIns="0" lIns="0" bIns="0" rIns="0">
            <a:spAutoFit/>
          </a:bodyPr>
          <a:lstStyle/>
          <a:p>
            <a:pPr algn="ctr">
              <a:lnSpc>
                <a:spcPts val="14568"/>
              </a:lnSpc>
            </a:pPr>
            <a:r>
              <a:rPr lang="en-US" sz="11036">
                <a:solidFill>
                  <a:srgbClr val="1C1B19"/>
                </a:solidFill>
                <a:latin typeface="Gill Sans Condensed"/>
                <a:ea typeface="Gill Sans Condensed"/>
                <a:cs typeface="Gill Sans Condensed"/>
                <a:sym typeface="Gill Sans Condensed"/>
              </a:rPr>
              <a:t>COMO VAMOS?</a:t>
            </a:r>
          </a:p>
        </p:txBody>
      </p:sp>
      <p:sp>
        <p:nvSpPr>
          <p:cNvPr name="TextBox 10" id="10"/>
          <p:cNvSpPr txBox="true"/>
          <p:nvPr/>
        </p:nvSpPr>
        <p:spPr>
          <a:xfrm rot="0">
            <a:off x="1052462" y="4231731"/>
            <a:ext cx="8204068" cy="4706267"/>
          </a:xfrm>
          <a:prstGeom prst="rect">
            <a:avLst/>
          </a:prstGeom>
        </p:spPr>
        <p:txBody>
          <a:bodyPr anchor="t" rtlCol="false" tIns="0" lIns="0" bIns="0" rIns="0">
            <a:spAutoFit/>
          </a:bodyPr>
          <a:lstStyle/>
          <a:p>
            <a:pPr algn="l" marL="639902" indent="-319951" lvl="1">
              <a:lnSpc>
                <a:spcPts val="4149"/>
              </a:lnSpc>
              <a:buFont typeface="Arial"/>
              <a:buChar char="•"/>
            </a:pPr>
            <a:r>
              <a:rPr lang="en-US" sz="2963">
                <a:solidFill>
                  <a:srgbClr val="242424"/>
                </a:solidFill>
                <a:latin typeface="TT Chocolates"/>
                <a:ea typeface="TT Chocolates"/>
                <a:cs typeface="TT Chocolates"/>
                <a:sym typeface="TT Chocolates"/>
              </a:rPr>
              <a:t>Hemos finalizado el diseño de los componentes principales de la aplicación. </a:t>
            </a:r>
          </a:p>
          <a:p>
            <a:pPr algn="l" marL="639902" indent="-319951" lvl="1">
              <a:lnSpc>
                <a:spcPts val="4149"/>
              </a:lnSpc>
              <a:buFont typeface="Arial"/>
              <a:buChar char="•"/>
            </a:pPr>
            <a:r>
              <a:rPr lang="en-US" sz="2963">
                <a:solidFill>
                  <a:srgbClr val="242424"/>
                </a:solidFill>
                <a:latin typeface="TT Chocolates"/>
                <a:ea typeface="TT Chocolates"/>
                <a:cs typeface="TT Chocolates"/>
                <a:sym typeface="TT Chocolates"/>
              </a:rPr>
              <a:t>Elegimos las tecnologías de desarrollo. Diseñamos, creamos y dockerizamos la base de datos. </a:t>
            </a:r>
          </a:p>
          <a:p>
            <a:pPr algn="l" marL="639902" indent="-319951" lvl="1">
              <a:lnSpc>
                <a:spcPts val="4149"/>
              </a:lnSpc>
              <a:buFont typeface="Arial"/>
              <a:buChar char="•"/>
            </a:pPr>
            <a:r>
              <a:rPr lang="en-US" sz="2963">
                <a:solidFill>
                  <a:srgbClr val="242424"/>
                </a:solidFill>
                <a:latin typeface="TT Chocolates"/>
                <a:ea typeface="TT Chocolates"/>
                <a:cs typeface="TT Chocolates"/>
                <a:sym typeface="TT Chocolates"/>
              </a:rPr>
              <a:t>Establecimos la conexión con la base de datos.</a:t>
            </a:r>
          </a:p>
          <a:p>
            <a:pPr algn="l" marL="639902" indent="-319951" lvl="1">
              <a:lnSpc>
                <a:spcPts val="4149"/>
              </a:lnSpc>
              <a:buFont typeface="Arial"/>
              <a:buChar char="•"/>
            </a:pPr>
            <a:r>
              <a:rPr lang="en-US" sz="2963">
                <a:solidFill>
                  <a:srgbClr val="242424"/>
                </a:solidFill>
                <a:latin typeface="TT Chocolates"/>
                <a:ea typeface="TT Chocolates"/>
                <a:cs typeface="TT Chocolates"/>
                <a:sym typeface="TT Chocolates"/>
              </a:rPr>
              <a:t>Actualmente estamos trabajando en la interfaz gráfica de la aplicación, implementando las primeras funciones de esta. </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2234811" y="1112993"/>
            <a:ext cx="5923238" cy="3222072"/>
            <a:chOff x="0" y="0"/>
            <a:chExt cx="1904541" cy="1036016"/>
          </a:xfrm>
        </p:grpSpPr>
        <p:sp>
          <p:nvSpPr>
            <p:cNvPr name="Freeform 3" id="3"/>
            <p:cNvSpPr/>
            <p:nvPr/>
          </p:nvSpPr>
          <p:spPr>
            <a:xfrm flipH="false" flipV="false" rot="0">
              <a:off x="0" y="0"/>
              <a:ext cx="1904541" cy="1036016"/>
            </a:xfrm>
            <a:custGeom>
              <a:avLst/>
              <a:gdLst/>
              <a:ahLst/>
              <a:cxnLst/>
              <a:rect r="r" b="b" t="t" l="l"/>
              <a:pathLst>
                <a:path h="1036016" w="1904541">
                  <a:moveTo>
                    <a:pt x="0" y="0"/>
                  </a:moveTo>
                  <a:lnTo>
                    <a:pt x="1904541" y="0"/>
                  </a:lnTo>
                  <a:lnTo>
                    <a:pt x="1904541" y="1036016"/>
                  </a:lnTo>
                  <a:lnTo>
                    <a:pt x="0" y="1036016"/>
                  </a:lnTo>
                  <a:close/>
                </a:path>
              </a:pathLst>
            </a:custGeom>
            <a:solidFill>
              <a:srgbClr val="000000">
                <a:alpha val="0"/>
              </a:srgbClr>
            </a:solidFill>
            <a:ln w="66675" cap="sq">
              <a:solidFill>
                <a:srgbClr val="8FA4E1"/>
              </a:solidFill>
              <a:prstDash val="solid"/>
              <a:miter/>
            </a:ln>
          </p:spPr>
        </p:sp>
        <p:sp>
          <p:nvSpPr>
            <p:cNvPr name="TextBox 4" id="4"/>
            <p:cNvSpPr txBox="true"/>
            <p:nvPr/>
          </p:nvSpPr>
          <p:spPr>
            <a:xfrm>
              <a:off x="0" y="-47625"/>
              <a:ext cx="1904541" cy="1083641"/>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324225" y="1570315"/>
            <a:ext cx="7639238" cy="2307429"/>
          </a:xfrm>
          <a:prstGeom prst="rect">
            <a:avLst/>
          </a:prstGeom>
          <a:solidFill>
            <a:srgbClr val="CFDBFF"/>
          </a:solidFill>
        </p:spPr>
      </p:sp>
      <p:sp>
        <p:nvSpPr>
          <p:cNvPr name="AutoShape 6" id="6"/>
          <p:cNvSpPr/>
          <p:nvPr/>
        </p:nvSpPr>
        <p:spPr>
          <a:xfrm rot="0">
            <a:off x="5324564" y="6260595"/>
            <a:ext cx="3613249" cy="1008123"/>
          </a:xfrm>
          <a:prstGeom prst="rect">
            <a:avLst/>
          </a:prstGeom>
          <a:solidFill>
            <a:srgbClr val="CFDBFF"/>
          </a:solidFill>
        </p:spPr>
      </p:sp>
      <p:sp>
        <p:nvSpPr>
          <p:cNvPr name="TextBox 7" id="7"/>
          <p:cNvSpPr txBox="true"/>
          <p:nvPr/>
        </p:nvSpPr>
        <p:spPr>
          <a:xfrm rot="0">
            <a:off x="1324225" y="1594308"/>
            <a:ext cx="7534066" cy="2092052"/>
          </a:xfrm>
          <a:prstGeom prst="rect">
            <a:avLst/>
          </a:prstGeom>
        </p:spPr>
        <p:txBody>
          <a:bodyPr anchor="t" rtlCol="false" tIns="0" lIns="0" bIns="0" rIns="0">
            <a:spAutoFit/>
          </a:bodyPr>
          <a:lstStyle/>
          <a:p>
            <a:pPr algn="ctr">
              <a:lnSpc>
                <a:spcPts val="15148"/>
              </a:lnSpc>
            </a:pPr>
            <a:r>
              <a:rPr lang="en-US" sz="11476">
                <a:solidFill>
                  <a:srgbClr val="1C1B19"/>
                </a:solidFill>
                <a:latin typeface="Gill Sans Condensed"/>
                <a:ea typeface="Gill Sans Condensed"/>
                <a:cs typeface="Gill Sans Condensed"/>
                <a:sym typeface="Gill Sans Condensed"/>
              </a:rPr>
              <a:t>EQUIPO</a:t>
            </a:r>
          </a:p>
        </p:txBody>
      </p:sp>
      <p:sp>
        <p:nvSpPr>
          <p:cNvPr name="TextBox 8" id="8"/>
          <p:cNvSpPr txBox="true"/>
          <p:nvPr/>
        </p:nvSpPr>
        <p:spPr>
          <a:xfrm rot="0">
            <a:off x="9799728" y="1166958"/>
            <a:ext cx="7187397" cy="3242026"/>
          </a:xfrm>
          <a:prstGeom prst="rect">
            <a:avLst/>
          </a:prstGeom>
        </p:spPr>
        <p:txBody>
          <a:bodyPr anchor="t" rtlCol="false" tIns="0" lIns="0" bIns="0" rIns="0">
            <a:spAutoFit/>
          </a:bodyPr>
          <a:lstStyle/>
          <a:p>
            <a:pPr algn="l" marL="0" indent="0" lvl="0">
              <a:lnSpc>
                <a:spcPts val="3690"/>
              </a:lnSpc>
            </a:pPr>
            <a:r>
              <a:rPr lang="en-US" sz="2636">
                <a:solidFill>
                  <a:srgbClr val="242424"/>
                </a:solidFill>
                <a:latin typeface="TT Chocolates"/>
                <a:ea typeface="TT Chocolates"/>
                <a:cs typeface="TT Chocolates"/>
                <a:sym typeface="TT Chocolates"/>
              </a:rPr>
              <a:t>La organización del proyecto en nuestro grupo es bastante sencilla. Al ser un equipo pequeño, no hay roles muy definidos, pero nos reunimos de manera regular (cada dos o tres días). En estas reuniones, asignamos tareas a cada miembro para que las entreguen en el siguiente encuentro. La selección de las tareas depende de cada individuo.</a:t>
            </a:r>
          </a:p>
        </p:txBody>
      </p:sp>
      <p:sp>
        <p:nvSpPr>
          <p:cNvPr name="TextBox 9" id="9"/>
          <p:cNvSpPr txBox="true"/>
          <p:nvPr/>
        </p:nvSpPr>
        <p:spPr>
          <a:xfrm rot="0">
            <a:off x="5324199" y="6586120"/>
            <a:ext cx="3613249" cy="366327"/>
          </a:xfrm>
          <a:prstGeom prst="rect">
            <a:avLst/>
          </a:prstGeom>
        </p:spPr>
        <p:txBody>
          <a:bodyPr anchor="t" rtlCol="false" tIns="0" lIns="0" bIns="0" rIns="0">
            <a:spAutoFit/>
          </a:bodyPr>
          <a:lstStyle/>
          <a:p>
            <a:pPr algn="ctr">
              <a:lnSpc>
                <a:spcPts val="2331"/>
              </a:lnSpc>
            </a:pPr>
            <a:r>
              <a:rPr lang="en-US" sz="2533">
                <a:solidFill>
                  <a:srgbClr val="1C1B19"/>
                </a:solidFill>
                <a:latin typeface="Gill Sans Condensed"/>
                <a:ea typeface="Gill Sans Condensed"/>
                <a:cs typeface="Gill Sans Condensed"/>
                <a:sym typeface="Gill Sans Condensed"/>
              </a:rPr>
              <a:t>ARCIA QUINTERO CRISTIAN DAVID</a:t>
            </a:r>
          </a:p>
        </p:txBody>
      </p:sp>
      <p:sp>
        <p:nvSpPr>
          <p:cNvPr name="AutoShape 10" id="10"/>
          <p:cNvSpPr/>
          <p:nvPr/>
        </p:nvSpPr>
        <p:spPr>
          <a:xfrm rot="0">
            <a:off x="9347388" y="6269256"/>
            <a:ext cx="3613249" cy="999462"/>
          </a:xfrm>
          <a:prstGeom prst="rect">
            <a:avLst/>
          </a:prstGeom>
          <a:solidFill>
            <a:srgbClr val="CFDBFF"/>
          </a:solidFill>
        </p:spPr>
      </p:sp>
      <p:sp>
        <p:nvSpPr>
          <p:cNvPr name="TextBox 11" id="11"/>
          <p:cNvSpPr txBox="true"/>
          <p:nvPr/>
        </p:nvSpPr>
        <p:spPr>
          <a:xfrm rot="0">
            <a:off x="9350552" y="6586120"/>
            <a:ext cx="3613249" cy="366327"/>
          </a:xfrm>
          <a:prstGeom prst="rect">
            <a:avLst/>
          </a:prstGeom>
        </p:spPr>
        <p:txBody>
          <a:bodyPr anchor="t" rtlCol="false" tIns="0" lIns="0" bIns="0" rIns="0">
            <a:spAutoFit/>
          </a:bodyPr>
          <a:lstStyle/>
          <a:p>
            <a:pPr algn="ctr">
              <a:lnSpc>
                <a:spcPts val="2331"/>
              </a:lnSpc>
            </a:pPr>
            <a:r>
              <a:rPr lang="en-US" sz="2533">
                <a:solidFill>
                  <a:srgbClr val="1C1B19"/>
                </a:solidFill>
                <a:latin typeface="Gill Sans Condensed"/>
                <a:ea typeface="Gill Sans Condensed"/>
                <a:cs typeface="Gill Sans Condensed"/>
                <a:sym typeface="Gill Sans Condensed"/>
              </a:rPr>
              <a:t>SANCHEZ MORA JUAN JOSE</a:t>
            </a:r>
          </a:p>
        </p:txBody>
      </p:sp>
      <p:sp>
        <p:nvSpPr>
          <p:cNvPr name="AutoShape 12" id="12"/>
          <p:cNvSpPr/>
          <p:nvPr/>
        </p:nvSpPr>
        <p:spPr>
          <a:xfrm rot="0">
            <a:off x="5324199" y="7509909"/>
            <a:ext cx="3613249" cy="999462"/>
          </a:xfrm>
          <a:prstGeom prst="rect">
            <a:avLst/>
          </a:prstGeom>
          <a:solidFill>
            <a:srgbClr val="CFDBFF"/>
          </a:solidFill>
        </p:spPr>
      </p:sp>
      <p:sp>
        <p:nvSpPr>
          <p:cNvPr name="TextBox 13" id="13"/>
          <p:cNvSpPr txBox="true"/>
          <p:nvPr/>
        </p:nvSpPr>
        <p:spPr>
          <a:xfrm rot="0">
            <a:off x="5324199" y="7826773"/>
            <a:ext cx="3613249" cy="366327"/>
          </a:xfrm>
          <a:prstGeom prst="rect">
            <a:avLst/>
          </a:prstGeom>
        </p:spPr>
        <p:txBody>
          <a:bodyPr anchor="t" rtlCol="false" tIns="0" lIns="0" bIns="0" rIns="0">
            <a:spAutoFit/>
          </a:bodyPr>
          <a:lstStyle/>
          <a:p>
            <a:pPr algn="ctr">
              <a:lnSpc>
                <a:spcPts val="2331"/>
              </a:lnSpc>
            </a:pPr>
            <a:r>
              <a:rPr lang="en-US" sz="2533">
                <a:solidFill>
                  <a:srgbClr val="1C1B19"/>
                </a:solidFill>
                <a:latin typeface="Gill Sans Condensed"/>
                <a:ea typeface="Gill Sans Condensed"/>
                <a:cs typeface="Gill Sans Condensed"/>
                <a:sym typeface="Gill Sans Condensed"/>
              </a:rPr>
              <a:t>SAMACA GONZALEZ DANIEL MAURICIO</a:t>
            </a:r>
          </a:p>
        </p:txBody>
      </p:sp>
      <p:sp>
        <p:nvSpPr>
          <p:cNvPr name="AutoShape 14" id="14"/>
          <p:cNvSpPr/>
          <p:nvPr/>
        </p:nvSpPr>
        <p:spPr>
          <a:xfrm rot="0">
            <a:off x="9350552" y="7509909"/>
            <a:ext cx="3613249" cy="1017920"/>
          </a:xfrm>
          <a:prstGeom prst="rect">
            <a:avLst/>
          </a:prstGeom>
          <a:solidFill>
            <a:srgbClr val="CFDBFF"/>
          </a:solidFill>
        </p:spPr>
      </p:sp>
      <p:sp>
        <p:nvSpPr>
          <p:cNvPr name="TextBox 15" id="15"/>
          <p:cNvSpPr txBox="true"/>
          <p:nvPr/>
        </p:nvSpPr>
        <p:spPr>
          <a:xfrm rot="0">
            <a:off x="9350552" y="7845231"/>
            <a:ext cx="3613249" cy="366327"/>
          </a:xfrm>
          <a:prstGeom prst="rect">
            <a:avLst/>
          </a:prstGeom>
        </p:spPr>
        <p:txBody>
          <a:bodyPr anchor="t" rtlCol="false" tIns="0" lIns="0" bIns="0" rIns="0">
            <a:spAutoFit/>
          </a:bodyPr>
          <a:lstStyle/>
          <a:p>
            <a:pPr algn="ctr">
              <a:lnSpc>
                <a:spcPts val="2331"/>
              </a:lnSpc>
            </a:pPr>
            <a:r>
              <a:rPr lang="en-US" sz="2533">
                <a:solidFill>
                  <a:srgbClr val="1C1B19"/>
                </a:solidFill>
                <a:latin typeface="Gill Sans Condensed"/>
                <a:ea typeface="Gill Sans Condensed"/>
                <a:cs typeface="Gill Sans Condensed"/>
                <a:sym typeface="Gill Sans Condensed"/>
              </a:rPr>
              <a:t>SOLANO GARCES JOSE ALEJANDRO</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1243764" y="2157781"/>
            <a:ext cx="7093205" cy="1777351"/>
            <a:chOff x="0" y="0"/>
            <a:chExt cx="3357985" cy="841413"/>
          </a:xfrm>
        </p:grpSpPr>
        <p:sp>
          <p:nvSpPr>
            <p:cNvPr name="Freeform 3" id="3"/>
            <p:cNvSpPr/>
            <p:nvPr/>
          </p:nvSpPr>
          <p:spPr>
            <a:xfrm flipH="false" flipV="false" rot="0">
              <a:off x="0" y="0"/>
              <a:ext cx="3357985" cy="841413"/>
            </a:xfrm>
            <a:custGeom>
              <a:avLst/>
              <a:gdLst/>
              <a:ahLst/>
              <a:cxnLst/>
              <a:rect r="r" b="b" t="t" l="l"/>
              <a:pathLst>
                <a:path h="841413" w="3357985">
                  <a:moveTo>
                    <a:pt x="0" y="0"/>
                  </a:moveTo>
                  <a:lnTo>
                    <a:pt x="3357985" y="0"/>
                  </a:lnTo>
                  <a:lnTo>
                    <a:pt x="3357985" y="841413"/>
                  </a:lnTo>
                  <a:lnTo>
                    <a:pt x="0" y="841413"/>
                  </a:lnTo>
                  <a:close/>
                </a:path>
              </a:pathLst>
            </a:custGeom>
            <a:solidFill>
              <a:srgbClr val="000000">
                <a:alpha val="0"/>
              </a:srgbClr>
            </a:solidFill>
            <a:ln w="66675" cap="sq">
              <a:solidFill>
                <a:srgbClr val="8FA4E1"/>
              </a:solidFill>
              <a:prstDash val="solid"/>
              <a:miter/>
            </a:ln>
          </p:spPr>
        </p:sp>
        <p:sp>
          <p:nvSpPr>
            <p:cNvPr name="TextBox 4" id="4"/>
            <p:cNvSpPr txBox="true"/>
            <p:nvPr/>
          </p:nvSpPr>
          <p:spPr>
            <a:xfrm>
              <a:off x="0" y="-47625"/>
              <a:ext cx="3357985" cy="889038"/>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783573" y="1820778"/>
            <a:ext cx="5826031" cy="2451359"/>
          </a:xfrm>
          <a:prstGeom prst="rect">
            <a:avLst/>
          </a:prstGeom>
          <a:solidFill>
            <a:srgbClr val="CFDBFF"/>
          </a:solidFill>
        </p:spPr>
      </p:sp>
      <p:sp>
        <p:nvSpPr>
          <p:cNvPr name="AutoShape 6" id="6"/>
          <p:cNvSpPr/>
          <p:nvPr/>
        </p:nvSpPr>
        <p:spPr>
          <a:xfrm rot="0">
            <a:off x="-584245" y="9404013"/>
            <a:ext cx="20408092" cy="2127629"/>
          </a:xfrm>
          <a:prstGeom prst="rect">
            <a:avLst/>
          </a:prstGeom>
          <a:solidFill>
            <a:srgbClr val="CFDBFF"/>
          </a:solidFill>
        </p:spPr>
      </p:sp>
      <p:sp>
        <p:nvSpPr>
          <p:cNvPr name="AutoShape 7" id="7"/>
          <p:cNvSpPr/>
          <p:nvPr/>
        </p:nvSpPr>
        <p:spPr>
          <a:xfrm rot="0">
            <a:off x="-921655" y="-1098929"/>
            <a:ext cx="20408092" cy="2127629"/>
          </a:xfrm>
          <a:prstGeom prst="rect">
            <a:avLst/>
          </a:prstGeom>
          <a:solidFill>
            <a:srgbClr val="CFDBFF"/>
          </a:solidFill>
        </p:spPr>
      </p:sp>
      <p:sp>
        <p:nvSpPr>
          <p:cNvPr name="Freeform 8" id="8"/>
          <p:cNvSpPr/>
          <p:nvPr/>
        </p:nvSpPr>
        <p:spPr>
          <a:xfrm flipH="false" flipV="false" rot="0">
            <a:off x="9425971" y="3593451"/>
            <a:ext cx="7833329" cy="3100098"/>
          </a:xfrm>
          <a:custGeom>
            <a:avLst/>
            <a:gdLst/>
            <a:ahLst/>
            <a:cxnLst/>
            <a:rect r="r" b="b" t="t" l="l"/>
            <a:pathLst>
              <a:path h="3100098" w="7833329">
                <a:moveTo>
                  <a:pt x="0" y="0"/>
                </a:moveTo>
                <a:lnTo>
                  <a:pt x="7833329" y="0"/>
                </a:lnTo>
                <a:lnTo>
                  <a:pt x="7833329" y="3100098"/>
                </a:lnTo>
                <a:lnTo>
                  <a:pt x="0" y="3100098"/>
                </a:lnTo>
                <a:lnTo>
                  <a:pt x="0" y="0"/>
                </a:lnTo>
                <a:close/>
              </a:path>
            </a:pathLst>
          </a:custGeom>
          <a:blipFill>
            <a:blip r:embed="rId2"/>
            <a:stretch>
              <a:fillRect l="0" t="-24329" r="0" b="-33150"/>
            </a:stretch>
          </a:blipFill>
          <a:ln w="209550" cap="rnd">
            <a:solidFill>
              <a:srgbClr val="8FA4E1"/>
            </a:solidFill>
            <a:prstDash val="solid"/>
            <a:round/>
          </a:ln>
        </p:spPr>
      </p:sp>
      <p:sp>
        <p:nvSpPr>
          <p:cNvPr name="TextBox 9" id="9"/>
          <p:cNvSpPr txBox="true"/>
          <p:nvPr/>
        </p:nvSpPr>
        <p:spPr>
          <a:xfrm rot="0">
            <a:off x="1513668" y="4590267"/>
            <a:ext cx="6365839" cy="3875955"/>
          </a:xfrm>
          <a:prstGeom prst="rect">
            <a:avLst/>
          </a:prstGeom>
        </p:spPr>
        <p:txBody>
          <a:bodyPr anchor="t" rtlCol="false" tIns="0" lIns="0" bIns="0" rIns="0">
            <a:spAutoFit/>
          </a:bodyPr>
          <a:lstStyle/>
          <a:p>
            <a:pPr algn="l" marL="0" indent="0" lvl="0">
              <a:lnSpc>
                <a:spcPts val="3833"/>
              </a:lnSpc>
            </a:pPr>
            <a:r>
              <a:rPr lang="en-US" sz="2738">
                <a:solidFill>
                  <a:srgbClr val="242424"/>
                </a:solidFill>
                <a:latin typeface="TT Chocolates"/>
                <a:ea typeface="TT Chocolates"/>
                <a:cs typeface="TT Chocolates"/>
                <a:sym typeface="TT Chocolates"/>
              </a:rPr>
              <a:t>El proyecto consiste en una página web que se está desarrollando en Python, utilizando el framework Django. Se están empleando sus funcionalidades de ORM, vistas y templates. La base de datos está modelada en MySQL, y se utilizará Docker para contener toda la aplicación y facilitar la gestión de dependencias.</a:t>
            </a:r>
          </a:p>
        </p:txBody>
      </p:sp>
      <p:sp>
        <p:nvSpPr>
          <p:cNvPr name="TextBox 10" id="10"/>
          <p:cNvSpPr txBox="true"/>
          <p:nvPr/>
        </p:nvSpPr>
        <p:spPr>
          <a:xfrm rot="0">
            <a:off x="1783573" y="1955892"/>
            <a:ext cx="5826031" cy="2181130"/>
          </a:xfrm>
          <a:prstGeom prst="rect">
            <a:avLst/>
          </a:prstGeom>
        </p:spPr>
        <p:txBody>
          <a:bodyPr anchor="t" rtlCol="false" tIns="0" lIns="0" bIns="0" rIns="0">
            <a:spAutoFit/>
          </a:bodyPr>
          <a:lstStyle/>
          <a:p>
            <a:pPr algn="ctr">
              <a:lnSpc>
                <a:spcPts val="7871"/>
              </a:lnSpc>
            </a:pPr>
            <a:r>
              <a:rPr lang="en-US" sz="7871" spc="173">
                <a:solidFill>
                  <a:srgbClr val="1C1B19"/>
                </a:solidFill>
                <a:latin typeface="Gill Sans Condensed"/>
                <a:ea typeface="Gill Sans Condensed"/>
                <a:cs typeface="Gill Sans Condensed"/>
                <a:sym typeface="Gill Sans Condensed"/>
              </a:rPr>
              <a:t>DISEÑO DEL PROYECTO</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1724140" y="650651"/>
            <a:ext cx="14839720" cy="8985697"/>
            <a:chOff x="0" y="0"/>
            <a:chExt cx="4349566" cy="2633735"/>
          </a:xfrm>
        </p:grpSpPr>
        <p:sp>
          <p:nvSpPr>
            <p:cNvPr name="Freeform 3" id="3"/>
            <p:cNvSpPr/>
            <p:nvPr/>
          </p:nvSpPr>
          <p:spPr>
            <a:xfrm flipH="false" flipV="false" rot="0">
              <a:off x="0" y="0"/>
              <a:ext cx="4349566" cy="2633735"/>
            </a:xfrm>
            <a:custGeom>
              <a:avLst/>
              <a:gdLst/>
              <a:ahLst/>
              <a:cxnLst/>
              <a:rect r="r" b="b" t="t" l="l"/>
              <a:pathLst>
                <a:path h="2633735" w="4349566">
                  <a:moveTo>
                    <a:pt x="0" y="0"/>
                  </a:moveTo>
                  <a:lnTo>
                    <a:pt x="4349566" y="0"/>
                  </a:lnTo>
                  <a:lnTo>
                    <a:pt x="4349566" y="2633735"/>
                  </a:lnTo>
                  <a:lnTo>
                    <a:pt x="0" y="2633735"/>
                  </a:lnTo>
                  <a:close/>
                </a:path>
              </a:pathLst>
            </a:custGeom>
            <a:solidFill>
              <a:srgbClr val="000000">
                <a:alpha val="0"/>
              </a:srgbClr>
            </a:solidFill>
            <a:ln w="66675" cap="sq">
              <a:solidFill>
                <a:srgbClr val="8FA4E1"/>
              </a:solidFill>
              <a:prstDash val="solid"/>
              <a:miter/>
            </a:ln>
          </p:spPr>
        </p:sp>
        <p:sp>
          <p:nvSpPr>
            <p:cNvPr name="TextBox 4" id="4"/>
            <p:cNvSpPr txBox="true"/>
            <p:nvPr/>
          </p:nvSpPr>
          <p:spPr>
            <a:xfrm>
              <a:off x="0" y="-38100"/>
              <a:ext cx="4349566" cy="2671835"/>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140037" y="482446"/>
            <a:ext cx="16007927" cy="3964452"/>
          </a:xfrm>
          <a:prstGeom prst="rect">
            <a:avLst/>
          </a:prstGeom>
          <a:solidFill>
            <a:srgbClr val="CFDBFF"/>
          </a:solidFill>
        </p:spPr>
      </p:sp>
      <p:sp>
        <p:nvSpPr>
          <p:cNvPr name="TextBox 6" id="6"/>
          <p:cNvSpPr txBox="true"/>
          <p:nvPr/>
        </p:nvSpPr>
        <p:spPr>
          <a:xfrm rot="0">
            <a:off x="2138046" y="247650"/>
            <a:ext cx="14011908" cy="4650221"/>
          </a:xfrm>
          <a:prstGeom prst="rect">
            <a:avLst/>
          </a:prstGeom>
        </p:spPr>
        <p:txBody>
          <a:bodyPr anchor="t" rtlCol="false" tIns="0" lIns="0" bIns="0" rIns="0">
            <a:spAutoFit/>
          </a:bodyPr>
          <a:lstStyle/>
          <a:p>
            <a:pPr algn="ctr">
              <a:lnSpc>
                <a:spcPts val="33553"/>
              </a:lnSpc>
            </a:pPr>
            <a:r>
              <a:rPr lang="en-US" sz="25419">
                <a:solidFill>
                  <a:srgbClr val="000000"/>
                </a:solidFill>
                <a:latin typeface="Gill Sans Condensed"/>
                <a:ea typeface="Gill Sans Condensed"/>
                <a:cs typeface="Gill Sans Condensed"/>
                <a:sym typeface="Gill Sans Condensed"/>
              </a:rPr>
              <a:t>PROBLEMAS</a:t>
            </a:r>
          </a:p>
        </p:txBody>
      </p:sp>
      <p:sp>
        <p:nvSpPr>
          <p:cNvPr name="TextBox 7" id="7"/>
          <p:cNvSpPr txBox="true"/>
          <p:nvPr/>
        </p:nvSpPr>
        <p:spPr>
          <a:xfrm rot="0">
            <a:off x="2452360" y="5076825"/>
            <a:ext cx="13383280" cy="3580124"/>
          </a:xfrm>
          <a:prstGeom prst="rect">
            <a:avLst/>
          </a:prstGeom>
        </p:spPr>
        <p:txBody>
          <a:bodyPr anchor="t" rtlCol="false" tIns="0" lIns="0" bIns="0" rIns="0">
            <a:spAutoFit/>
          </a:bodyPr>
          <a:lstStyle/>
          <a:p>
            <a:pPr algn="ctr">
              <a:lnSpc>
                <a:spcPts val="4795"/>
              </a:lnSpc>
              <a:spcBef>
                <a:spcPct val="0"/>
              </a:spcBef>
            </a:pPr>
            <a:r>
              <a:rPr lang="en-US" sz="3425">
                <a:solidFill>
                  <a:srgbClr val="000000"/>
                </a:solidFill>
                <a:latin typeface="TT Chocolates"/>
                <a:ea typeface="TT Chocolates"/>
                <a:cs typeface="TT Chocolates"/>
                <a:sym typeface="TT Chocolates"/>
              </a:rPr>
              <a:t>Al iniciar el proyecto, no teníamos claridad sobre lo que queríamos lograr. En un principio, decidimos desarrollar una aplicación de escritorio, pero al diseñar la interfaz, nos dimos cuenta de que la idea que teníamos se adaptaba mejor a una página web en lugar de a una aplicación de escritorio. Por lo tanto, optamos por modificar nuestra propuesta y ajustar las tecnologías que se habían planteado inicialmente.</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6001205" y="1212396"/>
            <a:ext cx="6269309" cy="2998679"/>
            <a:chOff x="0" y="0"/>
            <a:chExt cx="1904541" cy="910963"/>
          </a:xfrm>
        </p:grpSpPr>
        <p:sp>
          <p:nvSpPr>
            <p:cNvPr name="Freeform 3" id="3"/>
            <p:cNvSpPr/>
            <p:nvPr/>
          </p:nvSpPr>
          <p:spPr>
            <a:xfrm flipH="false" flipV="false" rot="0">
              <a:off x="0" y="0"/>
              <a:ext cx="1904541" cy="910963"/>
            </a:xfrm>
            <a:custGeom>
              <a:avLst/>
              <a:gdLst/>
              <a:ahLst/>
              <a:cxnLst/>
              <a:rect r="r" b="b" t="t" l="l"/>
              <a:pathLst>
                <a:path h="910963" w="1904541">
                  <a:moveTo>
                    <a:pt x="0" y="0"/>
                  </a:moveTo>
                  <a:lnTo>
                    <a:pt x="1904541" y="0"/>
                  </a:lnTo>
                  <a:lnTo>
                    <a:pt x="1904541" y="910963"/>
                  </a:lnTo>
                  <a:lnTo>
                    <a:pt x="0" y="910963"/>
                  </a:lnTo>
                  <a:close/>
                </a:path>
              </a:pathLst>
            </a:custGeom>
            <a:solidFill>
              <a:srgbClr val="000000">
                <a:alpha val="0"/>
              </a:srgbClr>
            </a:solidFill>
            <a:ln w="66675" cap="sq">
              <a:solidFill>
                <a:srgbClr val="8FA4E1"/>
              </a:solidFill>
              <a:prstDash val="solid"/>
              <a:miter/>
            </a:ln>
          </p:spPr>
        </p:sp>
        <p:sp>
          <p:nvSpPr>
            <p:cNvPr name="TextBox 4" id="4"/>
            <p:cNvSpPr txBox="true"/>
            <p:nvPr/>
          </p:nvSpPr>
          <p:spPr>
            <a:xfrm>
              <a:off x="0" y="-47625"/>
              <a:ext cx="1904541" cy="958588"/>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5361457" y="1473558"/>
            <a:ext cx="7548804" cy="2442243"/>
          </a:xfrm>
          <a:prstGeom prst="rect">
            <a:avLst/>
          </a:prstGeom>
          <a:solidFill>
            <a:srgbClr val="CFDBFF"/>
          </a:solidFill>
        </p:spPr>
      </p:sp>
      <p:sp>
        <p:nvSpPr>
          <p:cNvPr name="TextBox 6" id="6"/>
          <p:cNvSpPr txBox="true"/>
          <p:nvPr/>
        </p:nvSpPr>
        <p:spPr>
          <a:xfrm rot="0">
            <a:off x="6826278" y="4772815"/>
            <a:ext cx="1819695" cy="826770"/>
          </a:xfrm>
          <a:prstGeom prst="rect">
            <a:avLst/>
          </a:prstGeom>
        </p:spPr>
        <p:txBody>
          <a:bodyPr anchor="t" rtlCol="false" tIns="0" lIns="0" bIns="0" rIns="0">
            <a:spAutoFit/>
          </a:bodyPr>
          <a:lstStyle/>
          <a:p>
            <a:pPr algn="l">
              <a:lnSpc>
                <a:spcPts val="5940"/>
              </a:lnSpc>
            </a:pPr>
            <a:r>
              <a:rPr lang="en-US" sz="4500">
                <a:solidFill>
                  <a:srgbClr val="1C1B19"/>
                </a:solidFill>
                <a:latin typeface="Gill Sans Condensed"/>
                <a:ea typeface="Gill Sans Condensed"/>
                <a:cs typeface="Gill Sans Condensed"/>
                <a:sym typeface="Gill Sans Condensed"/>
              </a:rPr>
              <a:t>Asambleas</a:t>
            </a:r>
          </a:p>
        </p:txBody>
      </p:sp>
      <p:sp>
        <p:nvSpPr>
          <p:cNvPr name="TextBox 7" id="7"/>
          <p:cNvSpPr txBox="true"/>
          <p:nvPr/>
        </p:nvSpPr>
        <p:spPr>
          <a:xfrm rot="0">
            <a:off x="5493717" y="1457315"/>
            <a:ext cx="7300566" cy="2663975"/>
          </a:xfrm>
          <a:prstGeom prst="rect">
            <a:avLst/>
          </a:prstGeom>
        </p:spPr>
        <p:txBody>
          <a:bodyPr anchor="t" rtlCol="false" tIns="0" lIns="0" bIns="0" rIns="0">
            <a:spAutoFit/>
          </a:bodyPr>
          <a:lstStyle/>
          <a:p>
            <a:pPr algn="ctr">
              <a:lnSpc>
                <a:spcPts val="19236"/>
              </a:lnSpc>
            </a:pPr>
            <a:r>
              <a:rPr lang="en-US" sz="14573">
                <a:solidFill>
                  <a:srgbClr val="1C1B19"/>
                </a:solidFill>
                <a:latin typeface="Gill Sans Condensed"/>
                <a:ea typeface="Gill Sans Condensed"/>
                <a:cs typeface="Gill Sans Condensed"/>
                <a:sym typeface="Gill Sans Condensed"/>
              </a:rPr>
              <a:t>FALTANTES</a:t>
            </a:r>
          </a:p>
        </p:txBody>
      </p:sp>
      <p:sp>
        <p:nvSpPr>
          <p:cNvPr name="AutoShape 8" id="8"/>
          <p:cNvSpPr/>
          <p:nvPr/>
        </p:nvSpPr>
        <p:spPr>
          <a:xfrm rot="0">
            <a:off x="-1379812" y="-1006101"/>
            <a:ext cx="2759625" cy="12299202"/>
          </a:xfrm>
          <a:prstGeom prst="rect">
            <a:avLst/>
          </a:prstGeom>
          <a:solidFill>
            <a:srgbClr val="CFDBFF"/>
          </a:solidFill>
        </p:spPr>
      </p:sp>
      <p:grpSp>
        <p:nvGrpSpPr>
          <p:cNvPr name="Group 9" id="9"/>
          <p:cNvGrpSpPr/>
          <p:nvPr/>
        </p:nvGrpSpPr>
        <p:grpSpPr>
          <a:xfrm rot="0">
            <a:off x="5148971" y="4735477"/>
            <a:ext cx="1491134" cy="1044322"/>
            <a:chOff x="0" y="0"/>
            <a:chExt cx="838717" cy="587399"/>
          </a:xfrm>
        </p:grpSpPr>
        <p:sp>
          <p:nvSpPr>
            <p:cNvPr name="Freeform 10" id="10"/>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solidFill>
              <a:srgbClr val="000000">
                <a:alpha val="0"/>
              </a:srgbClr>
            </a:solidFill>
            <a:ln w="66675" cap="sq">
              <a:solidFill>
                <a:srgbClr val="8FA4E1"/>
              </a:solidFill>
              <a:prstDash val="solid"/>
              <a:miter/>
            </a:ln>
          </p:spPr>
        </p:sp>
        <p:sp>
          <p:nvSpPr>
            <p:cNvPr name="TextBox 11" id="11"/>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sp>
        <p:nvSpPr>
          <p:cNvPr name="TextBox 12" id="12"/>
          <p:cNvSpPr txBox="true"/>
          <p:nvPr/>
        </p:nvSpPr>
        <p:spPr>
          <a:xfrm rot="0">
            <a:off x="5502065" y="4787971"/>
            <a:ext cx="869849" cy="991828"/>
          </a:xfrm>
          <a:prstGeom prst="rect">
            <a:avLst/>
          </a:prstGeom>
        </p:spPr>
        <p:txBody>
          <a:bodyPr anchor="t" rtlCol="false" tIns="0" lIns="0" bIns="0" rIns="0">
            <a:spAutoFit/>
          </a:bodyPr>
          <a:lstStyle/>
          <a:p>
            <a:pPr algn="ctr">
              <a:lnSpc>
                <a:spcPts val="7109"/>
              </a:lnSpc>
            </a:pPr>
            <a:r>
              <a:rPr lang="en-US" b="true" sz="5385" spc="786">
                <a:solidFill>
                  <a:srgbClr val="1C1B19"/>
                </a:solidFill>
                <a:latin typeface="Gill Sans Condensed Bold"/>
                <a:ea typeface="Gill Sans Condensed Bold"/>
                <a:cs typeface="Gill Sans Condensed Bold"/>
                <a:sym typeface="Gill Sans Condensed Bold"/>
              </a:rPr>
              <a:t>01</a:t>
            </a:r>
          </a:p>
        </p:txBody>
      </p:sp>
      <p:sp>
        <p:nvSpPr>
          <p:cNvPr name="TextBox 13" id="13"/>
          <p:cNvSpPr txBox="true"/>
          <p:nvPr/>
        </p:nvSpPr>
        <p:spPr>
          <a:xfrm rot="0">
            <a:off x="6826278" y="6553626"/>
            <a:ext cx="1819695" cy="826770"/>
          </a:xfrm>
          <a:prstGeom prst="rect">
            <a:avLst/>
          </a:prstGeom>
        </p:spPr>
        <p:txBody>
          <a:bodyPr anchor="t" rtlCol="false" tIns="0" lIns="0" bIns="0" rIns="0">
            <a:spAutoFit/>
          </a:bodyPr>
          <a:lstStyle/>
          <a:p>
            <a:pPr algn="l">
              <a:lnSpc>
                <a:spcPts val="5940"/>
              </a:lnSpc>
            </a:pPr>
            <a:r>
              <a:rPr lang="en-US" sz="4500">
                <a:solidFill>
                  <a:srgbClr val="1C1B19"/>
                </a:solidFill>
                <a:latin typeface="Gill Sans Condensed"/>
                <a:ea typeface="Gill Sans Condensed"/>
                <a:cs typeface="Gill Sans Condensed"/>
                <a:sym typeface="Gill Sans Condensed"/>
              </a:rPr>
              <a:t>Foro</a:t>
            </a:r>
          </a:p>
        </p:txBody>
      </p:sp>
      <p:grpSp>
        <p:nvGrpSpPr>
          <p:cNvPr name="Group 14" id="14"/>
          <p:cNvGrpSpPr/>
          <p:nvPr/>
        </p:nvGrpSpPr>
        <p:grpSpPr>
          <a:xfrm rot="0">
            <a:off x="5148971" y="6516288"/>
            <a:ext cx="1491134" cy="1044322"/>
            <a:chOff x="0" y="0"/>
            <a:chExt cx="838717" cy="587399"/>
          </a:xfrm>
        </p:grpSpPr>
        <p:sp>
          <p:nvSpPr>
            <p:cNvPr name="Freeform 15" id="15"/>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solidFill>
              <a:srgbClr val="000000">
                <a:alpha val="0"/>
              </a:srgbClr>
            </a:solidFill>
            <a:ln w="66675" cap="sq">
              <a:solidFill>
                <a:srgbClr val="8FA4E1"/>
              </a:solidFill>
              <a:prstDash val="solid"/>
              <a:miter/>
            </a:ln>
          </p:spPr>
        </p:sp>
        <p:sp>
          <p:nvSpPr>
            <p:cNvPr name="TextBox 16" id="16"/>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sp>
        <p:nvSpPr>
          <p:cNvPr name="TextBox 17" id="17"/>
          <p:cNvSpPr txBox="true"/>
          <p:nvPr/>
        </p:nvSpPr>
        <p:spPr>
          <a:xfrm rot="0">
            <a:off x="5502065" y="6568782"/>
            <a:ext cx="869849" cy="991828"/>
          </a:xfrm>
          <a:prstGeom prst="rect">
            <a:avLst/>
          </a:prstGeom>
        </p:spPr>
        <p:txBody>
          <a:bodyPr anchor="t" rtlCol="false" tIns="0" lIns="0" bIns="0" rIns="0">
            <a:spAutoFit/>
          </a:bodyPr>
          <a:lstStyle/>
          <a:p>
            <a:pPr algn="ctr">
              <a:lnSpc>
                <a:spcPts val="7109"/>
              </a:lnSpc>
            </a:pPr>
            <a:r>
              <a:rPr lang="en-US" b="true" sz="5385" spc="786">
                <a:solidFill>
                  <a:srgbClr val="1C1B19"/>
                </a:solidFill>
                <a:latin typeface="Gill Sans Condensed Bold"/>
                <a:ea typeface="Gill Sans Condensed Bold"/>
                <a:cs typeface="Gill Sans Condensed Bold"/>
                <a:sym typeface="Gill Sans Condensed Bold"/>
              </a:rPr>
              <a:t>02</a:t>
            </a:r>
          </a:p>
        </p:txBody>
      </p:sp>
      <p:sp>
        <p:nvSpPr>
          <p:cNvPr name="TextBox 18" id="18"/>
          <p:cNvSpPr txBox="true"/>
          <p:nvPr/>
        </p:nvSpPr>
        <p:spPr>
          <a:xfrm rot="0">
            <a:off x="11270224" y="6553626"/>
            <a:ext cx="1868805" cy="826770"/>
          </a:xfrm>
          <a:prstGeom prst="rect">
            <a:avLst/>
          </a:prstGeom>
        </p:spPr>
        <p:txBody>
          <a:bodyPr anchor="t" rtlCol="false" tIns="0" lIns="0" bIns="0" rIns="0">
            <a:spAutoFit/>
          </a:bodyPr>
          <a:lstStyle/>
          <a:p>
            <a:pPr algn="l">
              <a:lnSpc>
                <a:spcPts val="5940"/>
              </a:lnSpc>
            </a:pPr>
            <a:r>
              <a:rPr lang="en-US" sz="4500">
                <a:solidFill>
                  <a:srgbClr val="1C1B19"/>
                </a:solidFill>
                <a:latin typeface="Gill Sans Condensed"/>
                <a:ea typeface="Gill Sans Condensed"/>
                <a:cs typeface="Gill Sans Condensed"/>
                <a:sym typeface="Gill Sans Condensed"/>
              </a:rPr>
              <a:t>Mensajería</a:t>
            </a:r>
          </a:p>
        </p:txBody>
      </p:sp>
      <p:grpSp>
        <p:nvGrpSpPr>
          <p:cNvPr name="Group 19" id="19"/>
          <p:cNvGrpSpPr/>
          <p:nvPr/>
        </p:nvGrpSpPr>
        <p:grpSpPr>
          <a:xfrm rot="0">
            <a:off x="9588590" y="6516288"/>
            <a:ext cx="1491134" cy="1044322"/>
            <a:chOff x="0" y="0"/>
            <a:chExt cx="838717" cy="587399"/>
          </a:xfrm>
        </p:grpSpPr>
        <p:sp>
          <p:nvSpPr>
            <p:cNvPr name="Freeform 20" id="20"/>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solidFill>
              <a:srgbClr val="000000">
                <a:alpha val="0"/>
              </a:srgbClr>
            </a:solidFill>
            <a:ln w="66675" cap="sq">
              <a:solidFill>
                <a:srgbClr val="8FA4E1"/>
              </a:solidFill>
              <a:prstDash val="solid"/>
              <a:miter/>
            </a:ln>
          </p:spPr>
        </p:sp>
        <p:sp>
          <p:nvSpPr>
            <p:cNvPr name="TextBox 21" id="21"/>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sp>
        <p:nvSpPr>
          <p:cNvPr name="TextBox 22" id="22"/>
          <p:cNvSpPr txBox="true"/>
          <p:nvPr/>
        </p:nvSpPr>
        <p:spPr>
          <a:xfrm rot="0">
            <a:off x="9899233" y="4851611"/>
            <a:ext cx="869849" cy="991828"/>
          </a:xfrm>
          <a:prstGeom prst="rect">
            <a:avLst/>
          </a:prstGeom>
        </p:spPr>
        <p:txBody>
          <a:bodyPr anchor="t" rtlCol="false" tIns="0" lIns="0" bIns="0" rIns="0">
            <a:spAutoFit/>
          </a:bodyPr>
          <a:lstStyle/>
          <a:p>
            <a:pPr algn="ctr">
              <a:lnSpc>
                <a:spcPts val="7109"/>
              </a:lnSpc>
            </a:pPr>
            <a:r>
              <a:rPr lang="en-US" b="true" sz="5385" spc="786">
                <a:solidFill>
                  <a:srgbClr val="1C1B19"/>
                </a:solidFill>
                <a:latin typeface="Gill Sans Condensed Bold"/>
                <a:ea typeface="Gill Sans Condensed Bold"/>
                <a:cs typeface="Gill Sans Condensed Bold"/>
                <a:sym typeface="Gill Sans Condensed Bold"/>
              </a:rPr>
              <a:t>03</a:t>
            </a:r>
          </a:p>
        </p:txBody>
      </p:sp>
      <p:sp>
        <p:nvSpPr>
          <p:cNvPr name="TextBox 23" id="23"/>
          <p:cNvSpPr txBox="true"/>
          <p:nvPr/>
        </p:nvSpPr>
        <p:spPr>
          <a:xfrm rot="0">
            <a:off x="11270224" y="4772815"/>
            <a:ext cx="1471291" cy="826770"/>
          </a:xfrm>
          <a:prstGeom prst="rect">
            <a:avLst/>
          </a:prstGeom>
        </p:spPr>
        <p:txBody>
          <a:bodyPr anchor="t" rtlCol="false" tIns="0" lIns="0" bIns="0" rIns="0">
            <a:spAutoFit/>
          </a:bodyPr>
          <a:lstStyle/>
          <a:p>
            <a:pPr algn="l">
              <a:lnSpc>
                <a:spcPts val="5940"/>
              </a:lnSpc>
            </a:pPr>
            <a:r>
              <a:rPr lang="en-US" sz="4500">
                <a:solidFill>
                  <a:srgbClr val="1C1B19"/>
                </a:solidFill>
                <a:latin typeface="Gill Sans Condensed"/>
                <a:ea typeface="Gill Sans Condensed"/>
                <a:cs typeface="Gill Sans Condensed"/>
                <a:sym typeface="Gill Sans Condensed"/>
              </a:rPr>
              <a:t>Reservas</a:t>
            </a:r>
          </a:p>
        </p:txBody>
      </p:sp>
      <p:grpSp>
        <p:nvGrpSpPr>
          <p:cNvPr name="Group 24" id="24"/>
          <p:cNvGrpSpPr/>
          <p:nvPr/>
        </p:nvGrpSpPr>
        <p:grpSpPr>
          <a:xfrm rot="0">
            <a:off x="9588590" y="4735477"/>
            <a:ext cx="1491134" cy="1044322"/>
            <a:chOff x="0" y="0"/>
            <a:chExt cx="838717" cy="587399"/>
          </a:xfrm>
        </p:grpSpPr>
        <p:sp>
          <p:nvSpPr>
            <p:cNvPr name="Freeform 25" id="25"/>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solidFill>
              <a:srgbClr val="000000">
                <a:alpha val="0"/>
              </a:srgbClr>
            </a:solidFill>
            <a:ln w="66675" cap="sq">
              <a:solidFill>
                <a:srgbClr val="8FA4E1"/>
              </a:solidFill>
              <a:prstDash val="solid"/>
              <a:miter/>
            </a:ln>
          </p:spPr>
        </p:sp>
        <p:sp>
          <p:nvSpPr>
            <p:cNvPr name="TextBox 26" id="26"/>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sp>
        <p:nvSpPr>
          <p:cNvPr name="TextBox 27" id="27"/>
          <p:cNvSpPr txBox="true"/>
          <p:nvPr/>
        </p:nvSpPr>
        <p:spPr>
          <a:xfrm rot="0">
            <a:off x="9899233" y="6606416"/>
            <a:ext cx="869849" cy="991828"/>
          </a:xfrm>
          <a:prstGeom prst="rect">
            <a:avLst/>
          </a:prstGeom>
        </p:spPr>
        <p:txBody>
          <a:bodyPr anchor="t" rtlCol="false" tIns="0" lIns="0" bIns="0" rIns="0">
            <a:spAutoFit/>
          </a:bodyPr>
          <a:lstStyle/>
          <a:p>
            <a:pPr algn="ctr">
              <a:lnSpc>
                <a:spcPts val="7109"/>
              </a:lnSpc>
            </a:pPr>
            <a:r>
              <a:rPr lang="en-US" b="true" sz="5385" spc="786">
                <a:solidFill>
                  <a:srgbClr val="1C1B19"/>
                </a:solidFill>
                <a:latin typeface="Gill Sans Condensed Bold"/>
                <a:ea typeface="Gill Sans Condensed Bold"/>
                <a:cs typeface="Gill Sans Condensed Bold"/>
                <a:sym typeface="Gill Sans Condensed Bold"/>
              </a:rPr>
              <a:t>04</a:t>
            </a:r>
          </a:p>
        </p:txBody>
      </p:sp>
      <p:sp>
        <p:nvSpPr>
          <p:cNvPr name="TextBox 28" id="28"/>
          <p:cNvSpPr txBox="true"/>
          <p:nvPr/>
        </p:nvSpPr>
        <p:spPr>
          <a:xfrm rot="0">
            <a:off x="6826278" y="5226735"/>
            <a:ext cx="1868805" cy="826770"/>
          </a:xfrm>
          <a:prstGeom prst="rect">
            <a:avLst/>
          </a:prstGeom>
        </p:spPr>
        <p:txBody>
          <a:bodyPr anchor="t" rtlCol="false" tIns="0" lIns="0" bIns="0" rIns="0">
            <a:spAutoFit/>
          </a:bodyPr>
          <a:lstStyle/>
          <a:p>
            <a:pPr algn="ctr">
              <a:lnSpc>
                <a:spcPts val="5940"/>
              </a:lnSpc>
              <a:spcBef>
                <a:spcPct val="0"/>
              </a:spcBef>
            </a:pPr>
            <a:r>
              <a:rPr lang="en-US" sz="4500">
                <a:solidFill>
                  <a:srgbClr val="1C1B19"/>
                </a:solidFill>
                <a:latin typeface="Gill Sans Condensed"/>
                <a:ea typeface="Gill Sans Condensed"/>
                <a:cs typeface="Gill Sans Condensed"/>
                <a:sym typeface="Gill Sans Condensed"/>
              </a:rPr>
              <a:t>(1 semana)</a:t>
            </a:r>
          </a:p>
        </p:txBody>
      </p:sp>
      <p:sp>
        <p:nvSpPr>
          <p:cNvPr name="TextBox 29" id="29"/>
          <p:cNvSpPr txBox="true"/>
          <p:nvPr/>
        </p:nvSpPr>
        <p:spPr>
          <a:xfrm rot="0">
            <a:off x="11270224" y="7075787"/>
            <a:ext cx="1868805" cy="826770"/>
          </a:xfrm>
          <a:prstGeom prst="rect">
            <a:avLst/>
          </a:prstGeom>
        </p:spPr>
        <p:txBody>
          <a:bodyPr anchor="t" rtlCol="false" tIns="0" lIns="0" bIns="0" rIns="0">
            <a:spAutoFit/>
          </a:bodyPr>
          <a:lstStyle/>
          <a:p>
            <a:pPr algn="ctr">
              <a:lnSpc>
                <a:spcPts val="5940"/>
              </a:lnSpc>
              <a:spcBef>
                <a:spcPct val="0"/>
              </a:spcBef>
            </a:pPr>
            <a:r>
              <a:rPr lang="en-US" sz="4500">
                <a:solidFill>
                  <a:srgbClr val="1C1B19"/>
                </a:solidFill>
                <a:latin typeface="Gill Sans Condensed"/>
                <a:ea typeface="Gill Sans Condensed"/>
                <a:cs typeface="Gill Sans Condensed"/>
                <a:sym typeface="Gill Sans Condensed"/>
              </a:rPr>
              <a:t>(3 semana)</a:t>
            </a:r>
          </a:p>
        </p:txBody>
      </p:sp>
      <p:sp>
        <p:nvSpPr>
          <p:cNvPr name="TextBox 30" id="30"/>
          <p:cNvSpPr txBox="true"/>
          <p:nvPr/>
        </p:nvSpPr>
        <p:spPr>
          <a:xfrm rot="0">
            <a:off x="11270224" y="5226735"/>
            <a:ext cx="1868805" cy="826770"/>
          </a:xfrm>
          <a:prstGeom prst="rect">
            <a:avLst/>
          </a:prstGeom>
        </p:spPr>
        <p:txBody>
          <a:bodyPr anchor="t" rtlCol="false" tIns="0" lIns="0" bIns="0" rIns="0">
            <a:spAutoFit/>
          </a:bodyPr>
          <a:lstStyle/>
          <a:p>
            <a:pPr algn="ctr">
              <a:lnSpc>
                <a:spcPts val="5940"/>
              </a:lnSpc>
              <a:spcBef>
                <a:spcPct val="0"/>
              </a:spcBef>
            </a:pPr>
            <a:r>
              <a:rPr lang="en-US" sz="4500">
                <a:solidFill>
                  <a:srgbClr val="1C1B19"/>
                </a:solidFill>
                <a:latin typeface="Gill Sans Condensed"/>
                <a:ea typeface="Gill Sans Condensed"/>
                <a:cs typeface="Gill Sans Condensed"/>
                <a:sym typeface="Gill Sans Condensed"/>
              </a:rPr>
              <a:t>(2 semana)</a:t>
            </a:r>
          </a:p>
        </p:txBody>
      </p:sp>
      <p:sp>
        <p:nvSpPr>
          <p:cNvPr name="TextBox 31" id="31"/>
          <p:cNvSpPr txBox="true"/>
          <p:nvPr/>
        </p:nvSpPr>
        <p:spPr>
          <a:xfrm rot="0">
            <a:off x="6826278" y="7075787"/>
            <a:ext cx="1868805" cy="826770"/>
          </a:xfrm>
          <a:prstGeom prst="rect">
            <a:avLst/>
          </a:prstGeom>
        </p:spPr>
        <p:txBody>
          <a:bodyPr anchor="t" rtlCol="false" tIns="0" lIns="0" bIns="0" rIns="0">
            <a:spAutoFit/>
          </a:bodyPr>
          <a:lstStyle/>
          <a:p>
            <a:pPr algn="ctr">
              <a:lnSpc>
                <a:spcPts val="5940"/>
              </a:lnSpc>
              <a:spcBef>
                <a:spcPct val="0"/>
              </a:spcBef>
            </a:pPr>
            <a:r>
              <a:rPr lang="en-US" sz="4500">
                <a:solidFill>
                  <a:srgbClr val="1C1B19"/>
                </a:solidFill>
                <a:latin typeface="Gill Sans Condensed"/>
                <a:ea typeface="Gill Sans Condensed"/>
                <a:cs typeface="Gill Sans Condensed"/>
                <a:sym typeface="Gill Sans Condensed"/>
              </a:rPr>
              <a:t>(1 semana)</a:t>
            </a:r>
          </a:p>
        </p:txBody>
      </p:sp>
      <p:sp>
        <p:nvSpPr>
          <p:cNvPr name="TextBox 32" id="32"/>
          <p:cNvSpPr txBox="true"/>
          <p:nvPr/>
        </p:nvSpPr>
        <p:spPr>
          <a:xfrm rot="0">
            <a:off x="1704585" y="8617458"/>
            <a:ext cx="14878830" cy="1176909"/>
          </a:xfrm>
          <a:prstGeom prst="rect">
            <a:avLst/>
          </a:prstGeom>
        </p:spPr>
        <p:txBody>
          <a:bodyPr anchor="t" rtlCol="false" tIns="0" lIns="0" bIns="0" rIns="0">
            <a:spAutoFit/>
          </a:bodyPr>
          <a:lstStyle/>
          <a:p>
            <a:pPr algn="ctr">
              <a:lnSpc>
                <a:spcPts val="4488"/>
              </a:lnSpc>
            </a:pPr>
            <a:r>
              <a:rPr lang="en-US" sz="3400">
                <a:solidFill>
                  <a:srgbClr val="1C1B19"/>
                </a:solidFill>
                <a:latin typeface="Gill Sans Condensed"/>
                <a:ea typeface="Gill Sans Condensed"/>
                <a:cs typeface="Gill Sans Condensed"/>
                <a:sym typeface="Gill Sans Condensed"/>
              </a:rPr>
              <a:t>Para la cuarta semana, planeamos ajustar y probar la aplicación en su totalidad, incorporar funcionalidades adicionales que no son tan esenciales y asegurar que se hayan cumplido todos los requisitos MUST.</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sp>
        <p:nvSpPr>
          <p:cNvPr name="AutoShape 2" id="2"/>
          <p:cNvSpPr/>
          <p:nvPr/>
        </p:nvSpPr>
        <p:spPr>
          <a:xfrm rot="0">
            <a:off x="-1379812" y="-1006101"/>
            <a:ext cx="2759625" cy="12299202"/>
          </a:xfrm>
          <a:prstGeom prst="rect">
            <a:avLst/>
          </a:prstGeom>
          <a:solidFill>
            <a:srgbClr val="CFDBFF"/>
          </a:solidFill>
        </p:spPr>
      </p:sp>
      <p:sp>
        <p:nvSpPr>
          <p:cNvPr name="TextBox 3" id="3"/>
          <p:cNvSpPr txBox="true"/>
          <p:nvPr/>
        </p:nvSpPr>
        <p:spPr>
          <a:xfrm rot="0">
            <a:off x="2772614" y="5076825"/>
            <a:ext cx="13914691" cy="2103879"/>
          </a:xfrm>
          <a:prstGeom prst="rect">
            <a:avLst/>
          </a:prstGeom>
        </p:spPr>
        <p:txBody>
          <a:bodyPr anchor="t" rtlCol="false" tIns="0" lIns="0" bIns="0" rIns="0">
            <a:spAutoFit/>
          </a:bodyPr>
          <a:lstStyle/>
          <a:p>
            <a:pPr algn="l" marL="0" indent="0" lvl="0">
              <a:lnSpc>
                <a:spcPts val="4197"/>
              </a:lnSpc>
            </a:pPr>
            <a:r>
              <a:rPr lang="en-US" sz="2998">
                <a:solidFill>
                  <a:srgbClr val="242424"/>
                </a:solidFill>
                <a:latin typeface="TT Chocolates"/>
                <a:ea typeface="TT Chocolates"/>
                <a:cs typeface="TT Chocolates"/>
                <a:sym typeface="TT Chocolates"/>
              </a:rPr>
              <a:t>En el desarrollo del proyecto, hemos recordado cómo funcionan Git y GitHub. También recordamos el proceso de normalización de bases de datos y cómo trabajar con MySQL. Además, hemos aprendido un poco sobre Docker y estamos adquiriendo bastante conocimiento en Python y Django.</a:t>
            </a:r>
          </a:p>
        </p:txBody>
      </p:sp>
      <p:grpSp>
        <p:nvGrpSpPr>
          <p:cNvPr name="Group 4" id="4"/>
          <p:cNvGrpSpPr/>
          <p:nvPr/>
        </p:nvGrpSpPr>
        <p:grpSpPr>
          <a:xfrm rot="0">
            <a:off x="2563846" y="2037670"/>
            <a:ext cx="14318678" cy="1282750"/>
            <a:chOff x="0" y="0"/>
            <a:chExt cx="6778587" cy="607265"/>
          </a:xfrm>
        </p:grpSpPr>
        <p:sp>
          <p:nvSpPr>
            <p:cNvPr name="Freeform 5" id="5"/>
            <p:cNvSpPr/>
            <p:nvPr/>
          </p:nvSpPr>
          <p:spPr>
            <a:xfrm flipH="false" flipV="false" rot="0">
              <a:off x="0" y="0"/>
              <a:ext cx="6778587" cy="607265"/>
            </a:xfrm>
            <a:custGeom>
              <a:avLst/>
              <a:gdLst/>
              <a:ahLst/>
              <a:cxnLst/>
              <a:rect r="r" b="b" t="t" l="l"/>
              <a:pathLst>
                <a:path h="607265" w="6778587">
                  <a:moveTo>
                    <a:pt x="0" y="0"/>
                  </a:moveTo>
                  <a:lnTo>
                    <a:pt x="6778587" y="0"/>
                  </a:lnTo>
                  <a:lnTo>
                    <a:pt x="6778587" y="607265"/>
                  </a:lnTo>
                  <a:lnTo>
                    <a:pt x="0" y="607265"/>
                  </a:lnTo>
                  <a:close/>
                </a:path>
              </a:pathLst>
            </a:custGeom>
            <a:solidFill>
              <a:srgbClr val="000000">
                <a:alpha val="0"/>
              </a:srgbClr>
            </a:solidFill>
            <a:ln w="66675" cap="sq">
              <a:solidFill>
                <a:srgbClr val="8FA4E1"/>
              </a:solidFill>
              <a:prstDash val="solid"/>
              <a:miter/>
            </a:ln>
          </p:spPr>
        </p:sp>
        <p:sp>
          <p:nvSpPr>
            <p:cNvPr name="TextBox 6" id="6"/>
            <p:cNvSpPr txBox="true"/>
            <p:nvPr/>
          </p:nvSpPr>
          <p:spPr>
            <a:xfrm>
              <a:off x="0" y="-47625"/>
              <a:ext cx="6778587" cy="654890"/>
            </a:xfrm>
            <a:prstGeom prst="rect">
              <a:avLst/>
            </a:prstGeom>
          </p:spPr>
          <p:txBody>
            <a:bodyPr anchor="ctr" rtlCol="false" tIns="48876" lIns="48876" bIns="48876" rIns="48876"/>
            <a:lstStyle/>
            <a:p>
              <a:pPr algn="ctr">
                <a:lnSpc>
                  <a:spcPts val="1588"/>
                </a:lnSpc>
              </a:pPr>
            </a:p>
          </p:txBody>
        </p:sp>
      </p:grpSp>
      <p:sp>
        <p:nvSpPr>
          <p:cNvPr name="AutoShape 7" id="7"/>
          <p:cNvSpPr/>
          <p:nvPr/>
        </p:nvSpPr>
        <p:spPr>
          <a:xfrm rot="0">
            <a:off x="3193456" y="1774544"/>
            <a:ext cx="13073008" cy="1809001"/>
          </a:xfrm>
          <a:prstGeom prst="rect">
            <a:avLst/>
          </a:prstGeom>
          <a:solidFill>
            <a:srgbClr val="CFDBFF"/>
          </a:solidFill>
        </p:spPr>
      </p:sp>
      <p:sp>
        <p:nvSpPr>
          <p:cNvPr name="TextBox 8" id="8"/>
          <p:cNvSpPr txBox="true"/>
          <p:nvPr/>
        </p:nvSpPr>
        <p:spPr>
          <a:xfrm rot="0">
            <a:off x="3185497" y="1666195"/>
            <a:ext cx="13073008" cy="2206371"/>
          </a:xfrm>
          <a:prstGeom prst="rect">
            <a:avLst/>
          </a:prstGeom>
        </p:spPr>
        <p:txBody>
          <a:bodyPr anchor="t" rtlCol="false" tIns="0" lIns="0" bIns="0" rIns="0">
            <a:spAutoFit/>
          </a:bodyPr>
          <a:lstStyle/>
          <a:p>
            <a:pPr algn="ctr">
              <a:lnSpc>
                <a:spcPts val="15971"/>
              </a:lnSpc>
            </a:pPr>
            <a:r>
              <a:rPr lang="en-US" sz="12099">
                <a:solidFill>
                  <a:srgbClr val="1C1B19"/>
                </a:solidFill>
                <a:latin typeface="Gill Sans Condensed"/>
                <a:ea typeface="Gill Sans Condensed"/>
                <a:cs typeface="Gill Sans Condensed"/>
                <a:sym typeface="Gill Sans Condensed"/>
              </a:rPr>
              <a:t>APRENDIZAJES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1790507" y="1251320"/>
            <a:ext cx="6341494" cy="2759559"/>
            <a:chOff x="0" y="0"/>
            <a:chExt cx="2120236" cy="922640"/>
          </a:xfrm>
        </p:grpSpPr>
        <p:sp>
          <p:nvSpPr>
            <p:cNvPr name="Freeform 3" id="3"/>
            <p:cNvSpPr/>
            <p:nvPr/>
          </p:nvSpPr>
          <p:spPr>
            <a:xfrm flipH="false" flipV="false" rot="0">
              <a:off x="0" y="0"/>
              <a:ext cx="2120236" cy="922640"/>
            </a:xfrm>
            <a:custGeom>
              <a:avLst/>
              <a:gdLst/>
              <a:ahLst/>
              <a:cxnLst/>
              <a:rect r="r" b="b" t="t" l="l"/>
              <a:pathLst>
                <a:path h="922640" w="2120236">
                  <a:moveTo>
                    <a:pt x="0" y="0"/>
                  </a:moveTo>
                  <a:lnTo>
                    <a:pt x="2120236" y="0"/>
                  </a:lnTo>
                  <a:lnTo>
                    <a:pt x="2120236" y="922640"/>
                  </a:lnTo>
                  <a:lnTo>
                    <a:pt x="0" y="922640"/>
                  </a:lnTo>
                  <a:close/>
                </a:path>
              </a:pathLst>
            </a:custGeom>
            <a:solidFill>
              <a:srgbClr val="000000">
                <a:alpha val="0"/>
              </a:srgbClr>
            </a:solidFill>
            <a:ln w="66675" cap="sq">
              <a:solidFill>
                <a:srgbClr val="8FA4E1"/>
              </a:solidFill>
              <a:prstDash val="solid"/>
              <a:miter/>
            </a:ln>
          </p:spPr>
        </p:sp>
        <p:sp>
          <p:nvSpPr>
            <p:cNvPr name="TextBox 4" id="4"/>
            <p:cNvSpPr txBox="true"/>
            <p:nvPr/>
          </p:nvSpPr>
          <p:spPr>
            <a:xfrm>
              <a:off x="0" y="-47625"/>
              <a:ext cx="2120236" cy="970265"/>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028700" y="1502736"/>
            <a:ext cx="7877865" cy="2219048"/>
          </a:xfrm>
          <a:prstGeom prst="rect">
            <a:avLst/>
          </a:prstGeom>
          <a:solidFill>
            <a:srgbClr val="CFDBFF"/>
          </a:solidFill>
        </p:spPr>
      </p:sp>
      <p:grpSp>
        <p:nvGrpSpPr>
          <p:cNvPr name="Group 6" id="6"/>
          <p:cNvGrpSpPr/>
          <p:nvPr/>
        </p:nvGrpSpPr>
        <p:grpSpPr>
          <a:xfrm rot="0">
            <a:off x="10329553" y="1582003"/>
            <a:ext cx="6779036" cy="7090170"/>
            <a:chOff x="0" y="0"/>
            <a:chExt cx="1219031" cy="1274980"/>
          </a:xfrm>
        </p:grpSpPr>
        <p:sp>
          <p:nvSpPr>
            <p:cNvPr name="Freeform 7" id="7"/>
            <p:cNvSpPr/>
            <p:nvPr/>
          </p:nvSpPr>
          <p:spPr>
            <a:xfrm flipH="false" flipV="false" rot="0">
              <a:off x="0" y="0"/>
              <a:ext cx="1219031" cy="1274980"/>
            </a:xfrm>
            <a:custGeom>
              <a:avLst/>
              <a:gdLst/>
              <a:ahLst/>
              <a:cxnLst/>
              <a:rect r="r" b="b" t="t" l="l"/>
              <a:pathLst>
                <a:path h="1274980" w="1219031">
                  <a:moveTo>
                    <a:pt x="114204" y="0"/>
                  </a:moveTo>
                  <a:lnTo>
                    <a:pt x="1104827" y="0"/>
                  </a:lnTo>
                  <a:cubicBezTo>
                    <a:pt x="1135116" y="0"/>
                    <a:pt x="1164164" y="12032"/>
                    <a:pt x="1185582" y="33450"/>
                  </a:cubicBezTo>
                  <a:cubicBezTo>
                    <a:pt x="1206999" y="54867"/>
                    <a:pt x="1219031" y="83915"/>
                    <a:pt x="1219031" y="114204"/>
                  </a:cubicBezTo>
                  <a:lnTo>
                    <a:pt x="1219031" y="1160777"/>
                  </a:lnTo>
                  <a:cubicBezTo>
                    <a:pt x="1219031" y="1191065"/>
                    <a:pt x="1206999" y="1220114"/>
                    <a:pt x="1185582" y="1241531"/>
                  </a:cubicBezTo>
                  <a:cubicBezTo>
                    <a:pt x="1164164" y="1262948"/>
                    <a:pt x="1135116" y="1274980"/>
                    <a:pt x="1104827" y="1274980"/>
                  </a:cubicBezTo>
                  <a:lnTo>
                    <a:pt x="114204" y="1274980"/>
                  </a:lnTo>
                  <a:cubicBezTo>
                    <a:pt x="83915" y="1274980"/>
                    <a:pt x="54867" y="1262948"/>
                    <a:pt x="33450" y="1241531"/>
                  </a:cubicBezTo>
                  <a:cubicBezTo>
                    <a:pt x="12032" y="1220114"/>
                    <a:pt x="0" y="1191065"/>
                    <a:pt x="0" y="1160777"/>
                  </a:cubicBezTo>
                  <a:lnTo>
                    <a:pt x="0" y="114204"/>
                  </a:lnTo>
                  <a:cubicBezTo>
                    <a:pt x="0" y="83915"/>
                    <a:pt x="12032" y="54867"/>
                    <a:pt x="33450" y="33450"/>
                  </a:cubicBezTo>
                  <a:cubicBezTo>
                    <a:pt x="54867" y="12032"/>
                    <a:pt x="83915" y="0"/>
                    <a:pt x="114204" y="0"/>
                  </a:cubicBezTo>
                  <a:close/>
                </a:path>
              </a:pathLst>
            </a:custGeom>
            <a:blipFill>
              <a:blip r:embed="rId2"/>
              <a:stretch>
                <a:fillRect l="-43036" t="0" r="-43036" b="0"/>
              </a:stretch>
            </a:blipFill>
            <a:ln w="247650" cap="rnd">
              <a:solidFill>
                <a:srgbClr val="8FA4E1"/>
              </a:solidFill>
              <a:prstDash val="solid"/>
              <a:round/>
            </a:ln>
          </p:spPr>
        </p:sp>
      </p:grpSp>
      <p:sp>
        <p:nvSpPr>
          <p:cNvPr name="TextBox 8" id="8"/>
          <p:cNvSpPr txBox="true"/>
          <p:nvPr/>
        </p:nvSpPr>
        <p:spPr>
          <a:xfrm rot="0">
            <a:off x="1028700" y="1724299"/>
            <a:ext cx="7877865" cy="1556426"/>
          </a:xfrm>
          <a:prstGeom prst="rect">
            <a:avLst/>
          </a:prstGeom>
        </p:spPr>
        <p:txBody>
          <a:bodyPr anchor="t" rtlCol="false" tIns="0" lIns="0" bIns="0" rIns="0">
            <a:spAutoFit/>
          </a:bodyPr>
          <a:lstStyle/>
          <a:p>
            <a:pPr algn="ctr">
              <a:lnSpc>
                <a:spcPts val="11269"/>
              </a:lnSpc>
            </a:pPr>
            <a:r>
              <a:rPr lang="en-US" sz="8537">
                <a:solidFill>
                  <a:srgbClr val="1C1B19"/>
                </a:solidFill>
                <a:latin typeface="Gill Sans Condensed"/>
                <a:ea typeface="Gill Sans Condensed"/>
                <a:cs typeface="Gill Sans Condensed"/>
                <a:sym typeface="Gill Sans Condensed"/>
              </a:rPr>
              <a:t>¿QUÉ MODIFICARÍAMOS?</a:t>
            </a:r>
          </a:p>
        </p:txBody>
      </p:sp>
      <p:sp>
        <p:nvSpPr>
          <p:cNvPr name="TextBox 9" id="9"/>
          <p:cNvSpPr txBox="true"/>
          <p:nvPr/>
        </p:nvSpPr>
        <p:spPr>
          <a:xfrm rot="0">
            <a:off x="1443920" y="4389743"/>
            <a:ext cx="7047426" cy="4645937"/>
          </a:xfrm>
          <a:prstGeom prst="rect">
            <a:avLst/>
          </a:prstGeom>
        </p:spPr>
        <p:txBody>
          <a:bodyPr anchor="t" rtlCol="false" tIns="0" lIns="0" bIns="0" rIns="0">
            <a:spAutoFit/>
          </a:bodyPr>
          <a:lstStyle/>
          <a:p>
            <a:pPr algn="l" marL="0" indent="0" lvl="0">
              <a:lnSpc>
                <a:spcPts val="4108"/>
              </a:lnSpc>
            </a:pPr>
            <a:r>
              <a:rPr lang="en-US" sz="2934">
                <a:solidFill>
                  <a:srgbClr val="242424"/>
                </a:solidFill>
                <a:latin typeface="TT Chocolates"/>
                <a:ea typeface="TT Chocolates"/>
                <a:cs typeface="TT Chocolates"/>
                <a:sym typeface="TT Chocolates"/>
              </a:rPr>
              <a:t>Si tuviéramos la oportunidad de comenzar de nuevo, no perderíamos tiempo buscando tecnologías para desarrollar una aplicación de escritorio, ni evaluando cuáles funciones son útiles para dicha app. Además, dado que tardamos en organizarnos, en esta nueva situación nos estructuraríamos más rápidamente y daríamos inicio al proyecto mucho antes.</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sp>
        <p:nvSpPr>
          <p:cNvPr name="AutoShape 2" id="2"/>
          <p:cNvSpPr/>
          <p:nvPr/>
        </p:nvSpPr>
        <p:spPr>
          <a:xfrm rot="0">
            <a:off x="-1379812" y="-1006101"/>
            <a:ext cx="2759625" cy="12299202"/>
          </a:xfrm>
          <a:prstGeom prst="rect">
            <a:avLst/>
          </a:prstGeom>
          <a:solidFill>
            <a:srgbClr val="CFDBFF"/>
          </a:solidFill>
        </p:spPr>
      </p:sp>
      <p:grpSp>
        <p:nvGrpSpPr>
          <p:cNvPr name="Group 3" id="3"/>
          <p:cNvGrpSpPr/>
          <p:nvPr/>
        </p:nvGrpSpPr>
        <p:grpSpPr>
          <a:xfrm rot="0">
            <a:off x="2450813" y="2037670"/>
            <a:ext cx="14318678" cy="1282750"/>
            <a:chOff x="0" y="0"/>
            <a:chExt cx="6778587" cy="607265"/>
          </a:xfrm>
        </p:grpSpPr>
        <p:sp>
          <p:nvSpPr>
            <p:cNvPr name="Freeform 4" id="4"/>
            <p:cNvSpPr/>
            <p:nvPr/>
          </p:nvSpPr>
          <p:spPr>
            <a:xfrm flipH="false" flipV="false" rot="0">
              <a:off x="0" y="0"/>
              <a:ext cx="6778587" cy="607265"/>
            </a:xfrm>
            <a:custGeom>
              <a:avLst/>
              <a:gdLst/>
              <a:ahLst/>
              <a:cxnLst/>
              <a:rect r="r" b="b" t="t" l="l"/>
              <a:pathLst>
                <a:path h="607265" w="6778587">
                  <a:moveTo>
                    <a:pt x="0" y="0"/>
                  </a:moveTo>
                  <a:lnTo>
                    <a:pt x="6778587" y="0"/>
                  </a:lnTo>
                  <a:lnTo>
                    <a:pt x="6778587" y="607265"/>
                  </a:lnTo>
                  <a:lnTo>
                    <a:pt x="0" y="607265"/>
                  </a:lnTo>
                  <a:close/>
                </a:path>
              </a:pathLst>
            </a:custGeom>
            <a:solidFill>
              <a:srgbClr val="000000">
                <a:alpha val="0"/>
              </a:srgbClr>
            </a:solidFill>
            <a:ln w="66675" cap="sq">
              <a:solidFill>
                <a:srgbClr val="8FA4E1"/>
              </a:solidFill>
              <a:prstDash val="solid"/>
              <a:miter/>
            </a:ln>
          </p:spPr>
        </p:sp>
        <p:sp>
          <p:nvSpPr>
            <p:cNvPr name="TextBox 5" id="5"/>
            <p:cNvSpPr txBox="true"/>
            <p:nvPr/>
          </p:nvSpPr>
          <p:spPr>
            <a:xfrm>
              <a:off x="0" y="-47625"/>
              <a:ext cx="6778587" cy="654890"/>
            </a:xfrm>
            <a:prstGeom prst="rect">
              <a:avLst/>
            </a:prstGeom>
          </p:spPr>
          <p:txBody>
            <a:bodyPr anchor="ctr" rtlCol="false" tIns="48876" lIns="48876" bIns="48876" rIns="48876"/>
            <a:lstStyle/>
            <a:p>
              <a:pPr algn="ctr">
                <a:lnSpc>
                  <a:spcPts val="1588"/>
                </a:lnSpc>
              </a:pPr>
            </a:p>
          </p:txBody>
        </p:sp>
      </p:grpSp>
      <p:sp>
        <p:nvSpPr>
          <p:cNvPr name="AutoShape 6" id="6"/>
          <p:cNvSpPr/>
          <p:nvPr/>
        </p:nvSpPr>
        <p:spPr>
          <a:xfrm rot="0">
            <a:off x="3080423" y="1774544"/>
            <a:ext cx="13073008" cy="1809001"/>
          </a:xfrm>
          <a:prstGeom prst="rect">
            <a:avLst/>
          </a:prstGeom>
          <a:solidFill>
            <a:srgbClr val="CFDBFF"/>
          </a:solidFill>
        </p:spPr>
      </p:sp>
      <p:sp>
        <p:nvSpPr>
          <p:cNvPr name="TextBox 7" id="7"/>
          <p:cNvSpPr txBox="true"/>
          <p:nvPr/>
        </p:nvSpPr>
        <p:spPr>
          <a:xfrm rot="0">
            <a:off x="3080423" y="1802943"/>
            <a:ext cx="13073008" cy="1899764"/>
          </a:xfrm>
          <a:prstGeom prst="rect">
            <a:avLst/>
          </a:prstGeom>
        </p:spPr>
        <p:txBody>
          <a:bodyPr anchor="t" rtlCol="false" tIns="0" lIns="0" bIns="0" rIns="0">
            <a:spAutoFit/>
          </a:bodyPr>
          <a:lstStyle/>
          <a:p>
            <a:pPr algn="ctr">
              <a:lnSpc>
                <a:spcPts val="13653"/>
              </a:lnSpc>
            </a:pPr>
            <a:r>
              <a:rPr lang="en-US" sz="10343">
                <a:solidFill>
                  <a:srgbClr val="1C1B19"/>
                </a:solidFill>
                <a:latin typeface="Gill Sans Condensed"/>
                <a:ea typeface="Gill Sans Condensed"/>
                <a:cs typeface="Gill Sans Condensed"/>
                <a:sym typeface="Gill Sans Condensed"/>
              </a:rPr>
              <a:t>REFLEXION</a:t>
            </a:r>
          </a:p>
        </p:txBody>
      </p:sp>
      <p:sp>
        <p:nvSpPr>
          <p:cNvPr name="TextBox 8" id="8"/>
          <p:cNvSpPr txBox="true"/>
          <p:nvPr/>
        </p:nvSpPr>
        <p:spPr>
          <a:xfrm rot="0">
            <a:off x="2703953" y="4131324"/>
            <a:ext cx="13812396" cy="4660840"/>
          </a:xfrm>
          <a:prstGeom prst="rect">
            <a:avLst/>
          </a:prstGeom>
        </p:spPr>
        <p:txBody>
          <a:bodyPr anchor="t" rtlCol="false" tIns="0" lIns="0" bIns="0" rIns="0">
            <a:spAutoFit/>
          </a:bodyPr>
          <a:lstStyle/>
          <a:p>
            <a:pPr algn="l" marL="0" indent="0" lvl="0">
              <a:lnSpc>
                <a:spcPts val="3703"/>
              </a:lnSpc>
            </a:pPr>
            <a:r>
              <a:rPr lang="en-US" sz="2645">
                <a:solidFill>
                  <a:srgbClr val="242424"/>
                </a:solidFill>
                <a:latin typeface="TT Chocolates"/>
                <a:ea typeface="TT Chocolates"/>
                <a:cs typeface="TT Chocolates"/>
                <a:sym typeface="TT Chocolates"/>
              </a:rPr>
              <a:t>Durante el desarrollo de este proyecto, hemos obtenido valiosos conocimientos sobre la dinámica del trabajo en equipo en el ámbito de la ingeniería de software. Hemos investigado cómo llevar a cabo un desarrollo profesional, mejorando en áreas como:</a:t>
            </a:r>
          </a:p>
          <a:p>
            <a:pPr algn="l" marL="0" indent="0" lvl="0">
              <a:lnSpc>
                <a:spcPts val="3703"/>
              </a:lnSpc>
            </a:pPr>
          </a:p>
          <a:p>
            <a:pPr algn="l" marL="571124" indent="-285562" lvl="1">
              <a:lnSpc>
                <a:spcPts val="3703"/>
              </a:lnSpc>
              <a:buFont typeface="Arial"/>
              <a:buChar char="•"/>
            </a:pPr>
            <a:r>
              <a:rPr lang="en-US" sz="2645">
                <a:solidFill>
                  <a:srgbClr val="242424"/>
                </a:solidFill>
                <a:latin typeface="TT Chocolates"/>
                <a:ea typeface="TT Chocolates"/>
                <a:cs typeface="TT Chocolates"/>
                <a:sym typeface="TT Chocolates"/>
              </a:rPr>
              <a:t>La distribución de responsabilidades</a:t>
            </a:r>
          </a:p>
          <a:p>
            <a:pPr algn="l" marL="571124" indent="-285562" lvl="1">
              <a:lnSpc>
                <a:spcPts val="3703"/>
              </a:lnSpc>
              <a:buFont typeface="Arial"/>
              <a:buChar char="•"/>
            </a:pPr>
            <a:r>
              <a:rPr lang="en-US" sz="2645">
                <a:solidFill>
                  <a:srgbClr val="242424"/>
                </a:solidFill>
                <a:latin typeface="TT Chocolates"/>
                <a:ea typeface="TT Chocolates"/>
                <a:cs typeface="TT Chocolates"/>
                <a:sym typeface="TT Chocolates"/>
              </a:rPr>
              <a:t>La gestión del tiempo</a:t>
            </a:r>
          </a:p>
          <a:p>
            <a:pPr algn="l" marL="571124" indent="-285562" lvl="1">
              <a:lnSpc>
                <a:spcPts val="3703"/>
              </a:lnSpc>
              <a:buFont typeface="Arial"/>
              <a:buChar char="•"/>
            </a:pPr>
            <a:r>
              <a:rPr lang="en-US" sz="2645">
                <a:solidFill>
                  <a:srgbClr val="242424"/>
                </a:solidFill>
                <a:latin typeface="TT Chocolates"/>
                <a:ea typeface="TT Chocolates"/>
                <a:cs typeface="TT Chocolates"/>
                <a:sym typeface="TT Chocolates"/>
              </a:rPr>
              <a:t>La planificación y organización</a:t>
            </a:r>
          </a:p>
          <a:p>
            <a:pPr algn="l">
              <a:lnSpc>
                <a:spcPts val="3703"/>
              </a:lnSpc>
            </a:pPr>
          </a:p>
          <a:p>
            <a:pPr algn="l" marL="0" indent="0" lvl="0">
              <a:lnSpc>
                <a:spcPts val="3703"/>
              </a:lnSpc>
            </a:pPr>
            <a:r>
              <a:rPr lang="en-US" sz="2645">
                <a:solidFill>
                  <a:srgbClr val="242424"/>
                </a:solidFill>
                <a:latin typeface="TT Chocolates"/>
                <a:ea typeface="TT Chocolates"/>
                <a:cs typeface="TT Chocolates"/>
                <a:sym typeface="TT Chocolates"/>
              </a:rPr>
              <a:t>Asimismo, hemos perfeccionado nuestras habilidades como programadores e ingenieros de sistemas, convirtiendo este proyecto en una experiencia invaluable para el futuro.</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1794544" y="620169"/>
            <a:ext cx="14619414" cy="8985697"/>
            <a:chOff x="0" y="0"/>
            <a:chExt cx="4284994" cy="2633735"/>
          </a:xfrm>
        </p:grpSpPr>
        <p:sp>
          <p:nvSpPr>
            <p:cNvPr name="Freeform 3" id="3"/>
            <p:cNvSpPr/>
            <p:nvPr/>
          </p:nvSpPr>
          <p:spPr>
            <a:xfrm flipH="false" flipV="false" rot="0">
              <a:off x="0" y="0"/>
              <a:ext cx="4284994" cy="2633735"/>
            </a:xfrm>
            <a:custGeom>
              <a:avLst/>
              <a:gdLst/>
              <a:ahLst/>
              <a:cxnLst/>
              <a:rect r="r" b="b" t="t" l="l"/>
              <a:pathLst>
                <a:path h="2633735" w="4284994">
                  <a:moveTo>
                    <a:pt x="0" y="0"/>
                  </a:moveTo>
                  <a:lnTo>
                    <a:pt x="4284994" y="0"/>
                  </a:lnTo>
                  <a:lnTo>
                    <a:pt x="4284994" y="2633735"/>
                  </a:lnTo>
                  <a:lnTo>
                    <a:pt x="0" y="2633735"/>
                  </a:lnTo>
                  <a:close/>
                </a:path>
              </a:pathLst>
            </a:custGeom>
            <a:solidFill>
              <a:srgbClr val="000000">
                <a:alpha val="0"/>
              </a:srgbClr>
            </a:solidFill>
            <a:ln w="66675" cap="sq">
              <a:solidFill>
                <a:srgbClr val="8FA4E1"/>
              </a:solidFill>
              <a:prstDash val="solid"/>
              <a:miter/>
            </a:ln>
          </p:spPr>
        </p:sp>
        <p:sp>
          <p:nvSpPr>
            <p:cNvPr name="TextBox 4" id="4"/>
            <p:cNvSpPr txBox="true"/>
            <p:nvPr/>
          </p:nvSpPr>
          <p:spPr>
            <a:xfrm>
              <a:off x="0" y="-38100"/>
              <a:ext cx="4284994" cy="2671835"/>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028700" y="3161274"/>
            <a:ext cx="16230600" cy="3964452"/>
          </a:xfrm>
          <a:prstGeom prst="rect">
            <a:avLst/>
          </a:prstGeom>
          <a:solidFill>
            <a:srgbClr val="CFDBFF"/>
          </a:solidFill>
        </p:spPr>
      </p:sp>
      <p:sp>
        <p:nvSpPr>
          <p:cNvPr name="AutoShape 6" id="6"/>
          <p:cNvSpPr/>
          <p:nvPr/>
        </p:nvSpPr>
        <p:spPr>
          <a:xfrm rot="0">
            <a:off x="13247893" y="8720210"/>
            <a:ext cx="2773182" cy="264496"/>
          </a:xfrm>
          <a:prstGeom prst="rect">
            <a:avLst/>
          </a:prstGeom>
          <a:solidFill>
            <a:srgbClr val="CFDBFF"/>
          </a:solidFill>
        </p:spPr>
      </p:sp>
      <p:sp>
        <p:nvSpPr>
          <p:cNvPr name="AutoShape 7" id="7"/>
          <p:cNvSpPr/>
          <p:nvPr/>
        </p:nvSpPr>
        <p:spPr>
          <a:xfrm rot="0">
            <a:off x="2225537" y="1028700"/>
            <a:ext cx="2695440" cy="264496"/>
          </a:xfrm>
          <a:prstGeom prst="rect">
            <a:avLst/>
          </a:prstGeom>
          <a:solidFill>
            <a:srgbClr val="CFDBFF"/>
          </a:solidFill>
        </p:spPr>
      </p:sp>
      <p:sp>
        <p:nvSpPr>
          <p:cNvPr name="TextBox 8" id="8"/>
          <p:cNvSpPr txBox="true"/>
          <p:nvPr/>
        </p:nvSpPr>
        <p:spPr>
          <a:xfrm rot="0">
            <a:off x="2346859" y="1065192"/>
            <a:ext cx="2574118" cy="191512"/>
          </a:xfrm>
          <a:prstGeom prst="rect">
            <a:avLst/>
          </a:prstGeom>
        </p:spPr>
        <p:txBody>
          <a:bodyPr anchor="t" rtlCol="false" tIns="0" lIns="0" bIns="0" rIns="0">
            <a:spAutoFit/>
          </a:bodyPr>
          <a:lstStyle/>
          <a:p>
            <a:pPr algn="l">
              <a:lnSpc>
                <a:spcPts val="1568"/>
              </a:lnSpc>
            </a:pPr>
            <a:r>
              <a:rPr lang="en-US" b="true" sz="1306" spc="84">
                <a:solidFill>
                  <a:srgbClr val="000000"/>
                </a:solidFill>
                <a:latin typeface="DM Sans Bold"/>
                <a:ea typeface="DM Sans Bold"/>
                <a:cs typeface="DM Sans Bold"/>
                <a:sym typeface="DM Sans Bold"/>
              </a:rPr>
              <a:t>REALIZADO POR:</a:t>
            </a:r>
          </a:p>
        </p:txBody>
      </p:sp>
      <p:sp>
        <p:nvSpPr>
          <p:cNvPr name="TextBox 9" id="9"/>
          <p:cNvSpPr txBox="true"/>
          <p:nvPr/>
        </p:nvSpPr>
        <p:spPr>
          <a:xfrm rot="0">
            <a:off x="2346859" y="1317576"/>
            <a:ext cx="2574118" cy="249897"/>
          </a:xfrm>
          <a:prstGeom prst="rect">
            <a:avLst/>
          </a:prstGeom>
        </p:spPr>
        <p:txBody>
          <a:bodyPr anchor="t" rtlCol="false" tIns="0" lIns="0" bIns="0" rIns="0">
            <a:spAutoFit/>
          </a:bodyPr>
          <a:lstStyle/>
          <a:p>
            <a:pPr algn="l" marL="0" indent="0" lvl="0">
              <a:lnSpc>
                <a:spcPts val="2051"/>
              </a:lnSpc>
              <a:spcBef>
                <a:spcPct val="0"/>
              </a:spcBef>
            </a:pPr>
            <a:r>
              <a:rPr lang="en-US" sz="1465" spc="30">
                <a:solidFill>
                  <a:srgbClr val="000000"/>
                </a:solidFill>
                <a:latin typeface="DM Sans"/>
                <a:ea typeface="DM Sans"/>
                <a:cs typeface="DM Sans"/>
                <a:sym typeface="DM Sans"/>
              </a:rPr>
              <a:t>LUDOPATAS</a:t>
            </a:r>
          </a:p>
        </p:txBody>
      </p:sp>
      <p:sp>
        <p:nvSpPr>
          <p:cNvPr name="TextBox 10" id="10"/>
          <p:cNvSpPr txBox="true"/>
          <p:nvPr/>
        </p:nvSpPr>
        <p:spPr>
          <a:xfrm rot="0">
            <a:off x="2225537" y="3272235"/>
            <a:ext cx="14309803" cy="3695812"/>
          </a:xfrm>
          <a:prstGeom prst="rect">
            <a:avLst/>
          </a:prstGeom>
        </p:spPr>
        <p:txBody>
          <a:bodyPr anchor="t" rtlCol="false" tIns="0" lIns="0" bIns="0" rIns="0">
            <a:spAutoFit/>
          </a:bodyPr>
          <a:lstStyle/>
          <a:p>
            <a:pPr algn="ctr">
              <a:lnSpc>
                <a:spcPts val="26681"/>
              </a:lnSpc>
            </a:pPr>
            <a:r>
              <a:rPr lang="en-US" sz="20212">
                <a:solidFill>
                  <a:srgbClr val="000000"/>
                </a:solidFill>
                <a:latin typeface="Gill Sans Condensed"/>
                <a:ea typeface="Gill Sans Condensed"/>
                <a:cs typeface="Gill Sans Condensed"/>
                <a:sym typeface="Gill Sans Condensed"/>
              </a:rPr>
              <a:t>MUCHAS 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DAG3ME4fDO4</dc:identifier>
  <dcterms:modified xsi:type="dcterms:W3CDTF">2011-08-01T06:04:30Z</dcterms:modified>
  <cp:revision>1</cp:revision>
  <dc:title> Entrega 5</dc:title>
</cp:coreProperties>
</file>